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t>arch-quality SKILL 开发指南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2286000"/>
            <a:ext cx="12188952" cy="22860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1A1A2E"/>
                </a:solidFill>
                <a:latin typeface="Microsoft YaHei"/>
              </a:defRPr>
            </a:pPr>
            <a:r>
              <a:t>基于 OPENCODE 的架构质量评估 SKILL 开发指南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FangSong"/>
              </a:defRPr>
            </a:pPr>
            <a:r>
              <a:t>从数值精度 Skill 开发实践中提炼的可复用方法论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AAAAAA"/>
                </a:solidFill>
                <a:latin typeface="FangSong"/>
              </a:defRPr>
            </a:pPr>
            <a:r>
              <a:t>12 个 OpenCode 交互提示词模板  |  5 个关键决策树分析  |  完整验证体系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/>
              </a:defRPr>
            </a:pPr>
            <a:r>
              <a:t>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234440"/>
            <a:ext cx="10149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F0F0F0"/>
                </a:solidFill>
                <a:latin typeface="FangSong"/>
              </a:defRPr>
            </a:pPr>
            <a:r>
              <a:t>第一章：什么是架构质量评估 Skill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五组件体系 | 三方制品 | 数值精度Skill画像 | 全生命周期</a:t>
            </a:r>
          </a:p>
          <a:p>
            <a:pPr>
              <a:spcBef>
                <a:spcPts val="300"/>
              </a:spcBef>
              <a:defRPr sz="1500" b="1">
                <a:solidFill>
                  <a:srgbClr val="F0F0F0"/>
                </a:solidFill>
                <a:latin typeface="FangSong"/>
              </a:defRPr>
            </a:pPr>
            <a:r>
              <a:t>第二章：三方制品规范与开发流程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指南/Skill/工具标准模板 | 版本绑定 | 6阶段12提示词</a:t>
            </a:r>
          </a:p>
          <a:p>
            <a:pPr>
              <a:spcBef>
                <a:spcPts val="300"/>
              </a:spcBef>
              <a:defRPr sz="1500" b="1">
                <a:solidFill>
                  <a:srgbClr val="F0F0F0"/>
                </a:solidFill>
                <a:latin typeface="FangSong"/>
              </a:defRPr>
            </a:pPr>
            <a:r>
              <a:t>第三章：开发阶段实操 (A1-A4)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初始化结构 | 定义维度 | 定义规则 | 实现工具</a:t>
            </a:r>
          </a:p>
          <a:p>
            <a:pPr>
              <a:spcBef>
                <a:spcPts val="300"/>
              </a:spcBef>
              <a:defRPr sz="1500" b="1">
                <a:solidFill>
                  <a:srgbClr val="F0F0F0"/>
                </a:solidFill>
                <a:latin typeface="FangSong"/>
              </a:defRPr>
            </a:pPr>
            <a:r>
              <a:t>第四章：测试阶段实操 (B1-B4)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单元测试 | 变异测试 | 外部基线 | 一致性检查</a:t>
            </a:r>
          </a:p>
          <a:p>
            <a:pPr>
              <a:spcBef>
                <a:spcPts val="300"/>
              </a:spcBef>
              <a:defRPr sz="1500" b="1">
                <a:solidFill>
                  <a:srgbClr val="F0F0F0"/>
                </a:solidFill>
                <a:latin typeface="FangSong"/>
              </a:defRPr>
            </a:pPr>
            <a:r>
              <a:t>第五章：部署阶段实操 (C1-C4)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注册智能体 | CI/CD | 用户提示词 | 报告模板</a:t>
            </a:r>
          </a:p>
          <a:p>
            <a:pPr>
              <a:spcBef>
                <a:spcPts val="300"/>
              </a:spcBef>
              <a:defRPr sz="1500" b="1">
                <a:solidFill>
                  <a:srgbClr val="F0F0F0"/>
                </a:solidFill>
                <a:latin typeface="FangSong"/>
              </a:defRPr>
            </a:pPr>
            <a:r>
              <a:t>第六章：复盘与教训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5个关键决策树 | 验证里程碑 | 经验教训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/>
              </a:defRPr>
            </a:pPr>
            <a:r>
              <a:t>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t>PPT 编制逻辑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t>How to Read This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1247120" cy="13716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600" b="1">
                <a:solidFill>
                  <a:srgbClr val="00D4FF"/>
                </a:solidFill>
                <a:latin typeface="FangSong"/>
              </a:defRPr>
            </a:pPr>
            <a:r>
              <a:t>PPT 叙事弧线：概念 -&gt; 流程 -&gt; 实操 -&gt; 反思</a:t>
            </a:r>
          </a:p>
          <a:p>
            <a:pPr>
              <a:spcBef>
                <a:spcPts val="300"/>
              </a:spcBef>
              <a:defRPr sz="1200" b="0">
                <a:solidFill>
                  <a:srgbClr val="AAAAAA"/>
                </a:solidFill>
                <a:latin typeface="FangSong"/>
              </a:defRPr>
            </a:pPr>
            <a:r>
              <a:t>第1章 What -&gt; 第2章 How -&gt; 第3-5章 How-to(12提示词) -&gt; 第6章 Lessons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5486400" cy="32004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FangSong"/>
              </a:defRPr>
            </a:pPr>
            <a:r>
              <a:t>每节结构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300" b="0">
                <a:solidFill>
                  <a:srgbClr val="F0F0F0"/>
                </a:solidFill>
                <a:latin typeface="FangSong"/>
              </a:defRPr>
            </a:pPr>
            <a:r>
              <a:t>&gt;&gt;&gt; 开发 (A1-A4): "怎么设计 Skill"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初始化骨架 -&gt; 维度公式翻译 -&gt; 规则定义 -&gt; 代码实现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300" b="0">
                <a:solidFill>
                  <a:srgbClr val="F0F0F0"/>
                </a:solidFill>
                <a:latin typeface="FangSong"/>
              </a:defRPr>
            </a:pPr>
            <a:r>
              <a:t>&gt;&gt;&gt; 测试 (B1-B4): "怎么验证 Skill"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单元测试 -&gt; 变异测试 -&gt; 外部基线 -&gt; 三方一致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300" b="0">
                <a:solidFill>
                  <a:srgbClr val="F0F0F0"/>
                </a:solidFill>
                <a:latin typeface="FangSong"/>
              </a:defRPr>
            </a:pPr>
            <a:r>
              <a:t>&gt;&gt;&gt; 部署 (C1-C4): "怎么上线 Skill"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智能体注册 -&gt; CI/CD -&gt; 用户提示词+报告模板(合并)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43200"/>
            <a:ext cx="5486400" cy="32004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88036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FangSong"/>
              </a:defRPr>
            </a:pPr>
            <a:r>
              <a:t>每页统一布局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┌────────────────────────────┐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│  提示词模板 + 输入参数     │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├────────────────────────────┤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│  执行结果截图              │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├────────────────────────────┤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│  数值精度 Skill 参考实例    │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└────────────────────────────┘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1">
                <a:solidFill>
                  <a:srgbClr val="00D4FF"/>
                </a:solidFill>
                <a:latin typeface="FangSong"/>
              </a:defRPr>
            </a:pPr>
            <a:r>
              <a:t>贯穿案例：数值精度 Skill 开发全过程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/>
              </a:defRPr>
            </a:pPr>
            <a:r>
              <a:t>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t>数值精度 Skill 画像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t>Reference Case: Numerical Accuracy 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600" b="1">
                <a:solidFill>
                  <a:srgbClr val="00D4FF"/>
                </a:solidFill>
                <a:latin typeface="FangSong"/>
              </a:defRPr>
            </a:pPr>
            <a:r>
              <a:t>技能定义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名称: numerical-accuracy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领域: 工业软件数值算法精度保障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版本: 指南1.8 &lt;-&gt; Skill1.6 &lt;-&gt; 工具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开发周期: 4周 (从指南1.0到发布)</a:t>
            </a:r>
          </a:p>
          <a:p>
            <a:pPr>
              <a:spcBef>
                <a:spcPts val="300"/>
              </a:spcBef>
              <a:defRPr sz="5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600" b="1">
                <a:solidFill>
                  <a:srgbClr val="00D4FF"/>
                </a:solidFill>
                <a:latin typeface="FangSong"/>
              </a:defRPr>
            </a:pPr>
            <a:r>
              <a:t>6 个评估维度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1. 数值稳定性保障 (25%)  ↕  2. 舍入误差控制 (20%)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3. MMS 验证完备性 (20%) ↕  4. 误差估计与控制 (15%)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5. 数值回归测试覆盖 (10%) ↕  6. 数值债务密度 (10%)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600" b="1">
                <a:solidFill>
                  <a:srgbClr val="00D4FF"/>
                </a:solidFill>
                <a:latin typeface="FangSong"/>
              </a:defRPr>
            </a:pPr>
            <a:r>
              <a:t>12 条 NVR 规则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F6B6B"/>
                </a:solidFill>
                <a:latin typeface="FangSong"/>
              </a:defRPr>
            </a:pPr>
            <a:r>
              <a:t>ERROR级别: NVR-001/003/005/006</a:t>
            </a:r>
          </a:p>
          <a:p>
            <a:pPr>
              <a:spcBef>
                <a:spcPts val="300"/>
              </a:spcBef>
              <a:defRPr sz="1200" b="0">
                <a:solidFill>
                  <a:srgbClr val="FFA500"/>
                </a:solidFill>
                <a:latin typeface="FangSong"/>
              </a:defRPr>
            </a:pPr>
            <a:r>
              <a:t>WARNING级别: NVR-004/007/008/010</a:t>
            </a:r>
          </a:p>
          <a:p>
            <a:pPr>
              <a:spcBef>
                <a:spcPts val="300"/>
              </a:spcBef>
              <a:defRPr sz="1200" b="0">
                <a:solidFill>
                  <a:srgbClr val="AAAAAA"/>
                </a:solidFill>
                <a:latin typeface="FangSong"/>
              </a:defRPr>
            </a:pPr>
            <a:r>
              <a:t>INFO级别: NVR-011/012</a:t>
            </a:r>
          </a:p>
          <a:p>
            <a:pPr>
              <a:spcBef>
                <a:spcPts val="300"/>
              </a:spcBef>
              <a:defRPr sz="5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600" b="1">
                <a:solidFill>
                  <a:srgbClr val="00D4FF"/>
                </a:solidFill>
                <a:latin typeface="FangSong"/>
              </a:defRPr>
            </a:pPr>
            <a:r>
              <a:t>验证数据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10 个开源项目验证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22 个单元测试 + 6 个变异测试 + 38 个回归测试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5 项目外部验证基线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5 折 k-fold 交叉验证 (4/5 泛化良好)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Valgrind 端到端交叉验证实验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/>
              </a:defRPr>
            </a:pPr>
            <a:r>
              <a:t>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t>全生命周期与 12 个提示词映射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t>Lifecycle &amp; Prompt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24712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300" b="1">
                <a:solidFill>
                  <a:srgbClr val="00D4FF"/>
                </a:solidFill>
                <a:latin typeface="FangSong"/>
              </a:defRPr>
            </a:pPr>
            <a:r>
              <a:t>阶段 A: 开发 (Development) ----------- 阶段 B: 测试 (Testing) ----------- 阶段 C: 部署 (Deployment)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A1 初始化结构 ─┬ A2 定义维度 ─┬ A3 定义规则 ─┬ A4 实现工具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                 │              │              │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                 └──────────────┴──────────────┘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                                                   │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                                B1 单元测试 &lt;-- B2 变异测试 &lt;-- B3 外部基线 &lt;-- B4 一致性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                                                   │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                 ┌──────────────────────────────┘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                 │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C1 注册智能体 ─┬ C2 CI/CD ─┬ C3 用户提示词 ─┬ C4 报告</a:t>
            </a:r>
          </a:p>
          <a:p>
            <a:pPr>
              <a:spcBef>
                <a:spcPts val="300"/>
              </a:spcBef>
              <a:defRPr sz="5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00D4FF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提示词模板贯穿始终: 每个提示词包含 "模板正文 + 用户输入 + 预期输出 + 参考实例"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/>
              </a:defRPr>
            </a:pPr>
            <a:r>
              <a:t>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t>A1: 初始化 Skill 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t>Prompt: Initialize Skill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0292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4663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FangSong"/>
              </a:defRPr>
            </a:pPr>
            <a:r>
              <a:t>提示词模板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技能名称: [待填充]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评估维度数: [N]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对应指南版本: [v1.0]</a:t>
            </a:r>
          </a:p>
          <a:p>
            <a:pPr>
              <a:spcBef>
                <a:spcPts val="300"/>
              </a:spcBef>
              <a:defRPr sz="4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生成骨架: 版本绑定头 + 权重表 +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各维度方法占位 + 规则表 + 版本历史</a:t>
            </a:r>
          </a:p>
          <a:p>
            <a:pPr>
              <a:spcBef>
                <a:spcPts val="300"/>
              </a:spcBef>
              <a:defRPr sz="5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FangSong"/>
              </a:defRPr>
            </a:pPr>
            <a:r>
              <a:t>输入参数表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参数          | 示例值          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技能名称      | numerical-accuracy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维度数        | 6               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维度权重      | 25/20/20/15/10/10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前置检测      | _detect_numerical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097280"/>
            <a:ext cx="59436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23444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FangSong"/>
              </a:defRPr>
            </a:pPr>
            <a:r>
              <a:t>参考实例: 数值精度 Skill 版本绑定头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4ECB71"/>
                </a:solidFill>
                <a:latin typeface="FangSong"/>
              </a:defRPr>
            </a:pPr>
            <a:r>
              <a:t>&gt; **版本绑定**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&gt; - 对应指南：**1.8 版**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&gt; - 对应实现：arch_metrics_numerical_accuracy.py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&gt; - 技能版本：**1.6**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&gt; - **三方一致性**：指南-Skill-工具的评分算法保持一致</a:t>
            </a:r>
          </a:p>
          <a:p>
            <a:pPr>
              <a:spcBef>
                <a:spcPts val="300"/>
              </a:spcBef>
              <a:defRPr sz="4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300" b="1">
                <a:solidFill>
                  <a:srgbClr val="00D4FF"/>
                </a:solidFill>
                <a:latin typeface="FangSong"/>
              </a:defRPr>
            </a:pPr>
            <a:r>
              <a:t>输出骨架 (前20行):</a:t>
            </a:r>
          </a:p>
          <a:p>
            <a:pPr>
              <a:spcBef>
                <a:spcPts val="300"/>
              </a:spcBef>
              <a:defRPr sz="2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# [名称]评估技能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&gt; 版本绑定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&gt; - 对应指南：v1.0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&gt; - 对应实现：arch_metrics_xxx.py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&gt; - 技能版本：1.0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## 一、权重分配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| 维度 | 权重 | 对应指南章节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| ...  | ...  | ...         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/>
              </a:defRPr>
            </a:pPr>
            <a:r>
              <a:t>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t>A2: 维度公式翻译 - 一次失败的翻译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t>Prompt: Define Scoring Algorithm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FF6B6B"/>
                </a:solidFill>
                <a:latin typeface="FangSong"/>
              </a:defRPr>
            </a:pPr>
            <a:r>
              <a:t>指南 x2.4 原文 (不可执行)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let E_d = 离散化误差是否被估计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let E_i = 迭代误差是否被估计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score = (E_d x 50) + (E_i x 50)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100" b="1">
                <a:solidFill>
                  <a:srgbClr val="FF6B6B"/>
                </a:solidFill>
                <a:latin typeface="FangSong"/>
              </a:defRPr>
            </a:pPr>
            <a:r>
              <a:t>  --&gt; "是否被估计"无法静态分析判定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4ECB71"/>
                </a:solidFill>
                <a:latin typeface="FangSong"/>
              </a:defRPr>
            </a:pPr>
            <a:r>
              <a:t>Skill 实际实现 (可执行)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1">
                <a:solidFill>
                  <a:srgbClr val="4ECB71"/>
                </a:solidFill>
                <a:latin typeface="FangSong"/>
              </a:defRPr>
            </a:pPr>
            <a:r>
              <a:t>  score = 0</a:t>
            </a:r>
          </a:p>
          <a:p>
            <a:pPr>
              <a:spcBef>
                <a:spcPts val="300"/>
              </a:spcBef>
              <a:defRPr sz="1200" b="0">
                <a:solidFill>
                  <a:srgbClr val="4ECB71"/>
                </a:solidFill>
                <a:latin typeface="FangSong"/>
              </a:defRPr>
            </a:pPr>
            <a:r>
              <a:t>  if 网格收敛性研究存在:  score += 40</a:t>
            </a:r>
          </a:p>
          <a:p>
            <a:pPr>
              <a:spcBef>
                <a:spcPts val="300"/>
              </a:spcBef>
              <a:defRPr sz="1200" b="0">
                <a:solidFill>
                  <a:srgbClr val="4ECB71"/>
                </a:solidFill>
                <a:latin typeface="FangSong"/>
              </a:defRPr>
            </a:pPr>
            <a:r>
              <a:t>  if 残差控制存在:         score += 30</a:t>
            </a:r>
          </a:p>
          <a:p>
            <a:pPr>
              <a:spcBef>
                <a:spcPts val="300"/>
              </a:spcBef>
              <a:defRPr sz="1200" b="0">
                <a:solidFill>
                  <a:srgbClr val="4ECB71"/>
                </a:solidFill>
                <a:latin typeface="FangSong"/>
              </a:defRPr>
            </a:pPr>
            <a:r>
              <a:t>  if 容差合理 (1e-4~1e-12): score += 30</a:t>
            </a:r>
          </a:p>
          <a:p>
            <a:pPr>
              <a:spcBef>
                <a:spcPts val="300"/>
              </a:spcBef>
              <a:defRPr sz="4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1">
                <a:solidFill>
                  <a:srgbClr val="00D4FF"/>
                </a:solidFill>
                <a:latin typeface="FangSong"/>
              </a:defRPr>
            </a:pPr>
            <a:r>
              <a:t>二值判定(T/F) --&gt; 多因子细化(40+30+30)</a:t>
            </a:r>
          </a:p>
          <a:p>
            <a:pPr>
              <a:spcBef>
                <a:spcPts val="300"/>
              </a:spcBef>
              <a:defRPr sz="1100" b="0">
                <a:solidFill>
                  <a:srgbClr val="FFA500"/>
                </a:solidFill>
                <a:latin typeface="FangSong"/>
              </a:defRPr>
            </a:pPr>
            <a:r>
              <a:t>代价: 与指南公式不一致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缓解: skill中标注"评分算法为独立编写"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/>
              </a:defRPr>
            </a:pPr>
            <a:r>
              <a:t>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t>A2: 维度公式翻译 - 决策树与策略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t>Prompt: Define Scoring Algorithm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FangSong"/>
              </a:defRPr>
            </a:pPr>
            <a:r>
              <a:t>决策树: 公式独立编写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选项 A: 严格遵循指南公式 (50+50)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需要人工审查，无法自动评分</a:t>
            </a:r>
          </a:p>
          <a:p>
            <a:pPr>
              <a:spcBef>
                <a:spcPts val="300"/>
              </a:spcBef>
              <a:defRPr sz="1100" b="1">
                <a:solidFill>
                  <a:srgbClr val="FF6B6B"/>
                </a:solidFill>
                <a:latin typeface="FangSong"/>
              </a:defRPr>
            </a:pPr>
            <a:r>
              <a:t>  后果: 该维度永远无法自动评分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1">
                <a:solidFill>
                  <a:srgbClr val="4ECB71"/>
                </a:solidFill>
                <a:latin typeface="FangSong"/>
              </a:defRPr>
            </a:pPr>
            <a:r>
              <a:t>选项 B: 工程化改写 (40+30+30)</a:t>
            </a:r>
          </a:p>
          <a:p>
            <a:pPr>
              <a:spcBef>
                <a:spcPts val="300"/>
              </a:spcBef>
              <a:defRPr sz="1100" b="0">
                <a:solidFill>
                  <a:srgbClr val="4ECB71"/>
                </a:solidFill>
                <a:latin typeface="FangSong"/>
              </a:defRPr>
            </a:pPr>
            <a:r>
              <a:t>  可执行、已在 10 项目验证</a:t>
            </a:r>
          </a:p>
          <a:p>
            <a:pPr>
              <a:spcBef>
                <a:spcPts val="300"/>
              </a:spcBef>
              <a:defRPr sz="1100" b="0">
                <a:solidFill>
                  <a:srgbClr val="FFA500"/>
                </a:solidFill>
                <a:latin typeface="FangSong"/>
              </a:defRPr>
            </a:pPr>
            <a:r>
              <a:t>  代价: 与指南公式不一致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FangSong"/>
              </a:defRPr>
            </a:pPr>
            <a:r>
              <a:t>指南公式翻译策略指南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 二值判定 (T/F)     --&gt; 分段函数+多因子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 连续值公式          --&gt; 直接实现+边界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 文本描述规则         --&gt; 分解为可检测子项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 聚合计算            --&gt; 明确粒度+单位</a:t>
            </a:r>
          </a:p>
          <a:p>
            <a:pPr>
              <a:spcBef>
                <a:spcPts val="300"/>
              </a:spcBef>
              <a:defRPr sz="5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600" b="1">
                <a:solidFill>
                  <a:srgbClr val="00D4FF"/>
                </a:solidFill>
                <a:latin typeface="FangSong"/>
              </a:defRPr>
            </a:pPr>
            <a:r>
              <a:t>核心教训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400" b="1">
                <a:solidFill>
                  <a:srgbClr val="00D4FF"/>
                </a:solidFill>
                <a:latin typeface="FangSong"/>
              </a:defRPr>
            </a:pPr>
            <a:r>
              <a:t>指南公式应从一开始就考虑可执行性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避免使用"是否被估计"等无法静态判定的概念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/>
              </a:defRPr>
            </a:pPr>
            <a:r>
              <a:t>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t>A3: output_level 与 severity 矩阵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t>Prompt: Define NVR/MLR Rules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0292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4663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FangSong"/>
              </a:defRPr>
            </a:pPr>
            <a:r>
              <a:t>output_level 与 severity 解耦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| severity \ level | ERROR | WARNING | INFO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|:----------------|:-----:|:-------:|:----:|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| HIGH            | 阻断   | 优先   | —   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| MEDIUM          | —     | 关注   | —   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| LOW             | —     | —      | 参考 |</a:t>
            </a:r>
          </a:p>
          <a:p>
            <a:pPr>
              <a:spcBef>
                <a:spcPts val="300"/>
              </a:spcBef>
              <a:defRPr sz="5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FangSong"/>
              </a:defRPr>
            </a:pPr>
            <a:r>
              <a:t>数值精度 12 条 NVR 分布:</a:t>
            </a:r>
          </a:p>
          <a:p>
            <a:pPr>
              <a:spcBef>
                <a:spcPts val="300"/>
              </a:spcBef>
              <a:defRPr sz="1200" b="0">
                <a:solidFill>
                  <a:srgbClr val="FF6B6B"/>
                </a:solidFill>
                <a:latin typeface="FangSong"/>
              </a:defRPr>
            </a:pPr>
            <a:r>
              <a:t>  ERROR(4): NVR-001/003/005/006 -- CI阻断</a:t>
            </a:r>
          </a:p>
          <a:p>
            <a:pPr>
              <a:spcBef>
                <a:spcPts val="300"/>
              </a:spcBef>
              <a:defRPr sz="1200" b="0">
                <a:solidFill>
                  <a:srgbClr val="FFA500"/>
                </a:solidFill>
                <a:latin typeface="FangSong"/>
              </a:defRPr>
            </a:pPr>
            <a:r>
              <a:t>  WARNING(5): NVR-004/007/008/010 -- 人工复核</a:t>
            </a:r>
          </a:p>
          <a:p>
            <a:pPr>
              <a:spcBef>
                <a:spcPts val="300"/>
              </a:spcBef>
              <a:defRPr sz="1200" b="0">
                <a:solidFill>
                  <a:srgbClr val="AAAAAA"/>
                </a:solidFill>
                <a:latin typeface="FangSong"/>
              </a:defRPr>
            </a:pPr>
            <a:r>
              <a:t>  INFO(2): NVR-011/012 -- 参考信息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097280"/>
            <a:ext cx="59436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23444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FangSong"/>
              </a:defRPr>
            </a:pPr>
            <a:r>
              <a:t>规则设计 5 原则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1. 每条规则对应一个可自动检测的代码坏味道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2. output_level 与 severity 解耦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3. 高置信度 ERROR --&gt; CI 阻断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4. 中低置信度 WARNING --&gt; 人工复核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5. 每条规则必须有明确的触发+豁免条件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/>
              </a:defRPr>
            </a:pPr>
            <a:r>
              <a:t>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t>A3: NVR-003 参考实例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t>Prompt: Define NVR/MLR Rules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0292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4663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FangSong"/>
              </a:defRPr>
            </a:pPr>
            <a:r>
              <a:t>参考实例: NVR-003 (相消性损失)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AAAAAA"/>
                </a:solidFill>
                <a:latin typeface="FangSong"/>
              </a:defRPr>
            </a:pPr>
            <a:r>
              <a:t>检测模式: [a-z] - [a-z]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1">
                <a:solidFill>
                  <a:srgbClr val="F0F0F0"/>
                </a:solidFill>
                <a:latin typeface="FangSong"/>
              </a:defRPr>
            </a:pPr>
            <a:r>
              <a:t>output_level 规则:</a:t>
            </a:r>
          </a:p>
          <a:p>
            <a:pPr>
              <a:spcBef>
                <a:spcPts val="300"/>
              </a:spcBef>
              <a:defRPr sz="1200" b="0">
                <a:solidFill>
                  <a:srgbClr val="FF6B6B"/>
                </a:solidFill>
                <a:latin typeface="FangSong"/>
              </a:defRPr>
            </a:pPr>
            <a:r>
              <a:t>  无动态工具时: ERROR</a:t>
            </a:r>
          </a:p>
          <a:p>
            <a:pPr>
              <a:spcBef>
                <a:spcPts val="300"/>
              </a:spcBef>
              <a:defRPr sz="1200" b="0">
                <a:solidFill>
                  <a:srgbClr val="FFA500"/>
                </a:solidFill>
                <a:latin typeface="FangSong"/>
              </a:defRPr>
            </a:pPr>
            <a:r>
              <a:t>  有动态工具时: WARNING (降级)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AAAAAA"/>
                </a:solidFill>
                <a:latin typeface="FangSong"/>
              </a:defRPr>
            </a:pPr>
            <a:r>
              <a:t>豁免可能性: 否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1">
                <a:solidFill>
                  <a:srgbClr val="4ECB71"/>
                </a:solidFill>
                <a:latin typeface="FangSong"/>
              </a:defRPr>
            </a:pPr>
            <a:r>
              <a:t>已知修复:</a:t>
            </a:r>
          </a:p>
          <a:p>
            <a:pPr>
              <a:spcBef>
                <a:spcPts val="300"/>
              </a:spcBef>
              <a:defRPr sz="1100" b="0">
                <a:solidFill>
                  <a:srgbClr val="4ECB71"/>
                </a:solidFill>
                <a:latin typeface="FangSong"/>
              </a:defRPr>
            </a:pPr>
            <a:r>
              <a:t>  richardson --&gt; richardson_extrap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避免匹配 "Copyright Chris Richardson"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/>
              </a:defRPr>
            </a:pPr>
            <a:r>
              <a:t>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t>A4: 评估工具类结构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t>Prompt: Implement Assessment Tool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FangSong"/>
              </a:defRPr>
            </a:pPr>
            <a:r>
              <a:t>Tool 类结构模板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300" b="1">
                <a:solidFill>
                  <a:srgbClr val="4ECB71"/>
                </a:solidFill>
                <a:latin typeface="FangSong"/>
              </a:defRPr>
            </a:pPr>
            <a:r>
              <a:t>class [Domain]Metrics: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 def __init__(self, root):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     self.index = FileIndex(root)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     self._detect()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     self._scan_files()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 def calc_dim_1(self) -&gt; tuple: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     return score, { "score": s, ... }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 def check_rules(self) -&gt; list: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     # NVR-xxx: ...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 def all_metrics(self) -&gt; dict: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     # 聚合所有 calc_xxx()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FangSong"/>
              </a:defRPr>
            </a:pPr>
            <a:r>
              <a:t>(score, detail) 返回规范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score = float 或 None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0-100 评分 / None 表示维度不适用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detail = dict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评分中间值和证据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key 与 Skill 检测项对应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300" b="1">
                <a:solidFill>
                  <a:srgbClr val="00D4FF"/>
                </a:solidFill>
                <a:latin typeface="FangSong"/>
              </a:defRPr>
            </a:pPr>
            <a:r>
              <a:t>关键规则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  check_rules() 必须处理</a:t>
            </a:r>
          </a:p>
          <a:p>
            <a:pPr>
              <a:spcBef>
                <a:spcPts val="300"/>
              </a:spcBef>
              <a:defRPr sz="1200" b="0">
                <a:solidFill>
                  <a:srgbClr val="FF6B6B"/>
                </a:solidFill>
                <a:latin typeface="FangSong"/>
              </a:defRPr>
            </a:pPr>
            <a:r>
              <a:t>  calc_xxx() 返回 None 的情况</a:t>
            </a:r>
          </a:p>
          <a:p>
            <a:pPr>
              <a:spcBef>
                <a:spcPts val="300"/>
              </a:spcBef>
              <a:defRPr sz="1100" b="0">
                <a:solidFill>
                  <a:srgbClr val="FFA500"/>
                </a:solidFill>
                <a:latin typeface="FangSong"/>
              </a:defRPr>
            </a:pPr>
            <a:r>
              <a:t>  --&gt; 否则非求解器项目误报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/>
              </a:defRPr>
            </a:pPr>
            <a:r>
              <a:t>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t>A4: calc_error_estimation 实例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t>Prompt: Implement Assessment Tool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24712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FangSong"/>
              </a:defRPr>
            </a:pPr>
            <a:r>
              <a:t>参考实例: calc_error_estimation() 方法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100" b="1">
                <a:solidFill>
                  <a:srgbClr val="4ECB71"/>
                </a:solidFill>
                <a:latin typeface="FangSong"/>
              </a:defRPr>
            </a:pPr>
            <a:r>
              <a:t>def calc_error_estimation(self) -&gt; tuple: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 if not self._has_numerical: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     return None, {}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 has_solver_code = any(...)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 if not has_solver_code: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     return None, {}      # 无求解器，不适用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 # 三项检查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 score = 0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 if combined_mesh:          score += 40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 if has_residual_control:   score += 30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 if reasonable_tol:         score += 30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 return score, { "score": score, ... }</a:t>
            </a:r>
          </a:p>
          <a:p>
            <a:pPr>
              <a:spcBef>
                <a:spcPts val="300"/>
              </a:spcBef>
              <a:defRPr sz="4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100" b="1">
                <a:solidFill>
                  <a:srgbClr val="00D4FF"/>
                </a:solidFill>
                <a:latin typeface="FangSong"/>
              </a:defRPr>
            </a:pPr>
            <a:r>
              <a:t>注意: check_rules() 中 NVR-007/NVR-008 用 err_score is not None 守卫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避免无求解器项目误触发迭代误差规则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/>
              </a:defRPr>
            </a:pPr>
            <a:r>
              <a:t>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t>B1: 生成单元测试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t>Prompt: Generate Unit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FangSong"/>
              </a:defRPr>
            </a:pPr>
            <a:r>
              <a:t>pytest 测试结构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每个 calc_xxx() 至少 2 个测试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正常检测 + 未命中检测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每条 NVR 规则至少 1 个测试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验证触发条件正确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1 个综合测试验证 all_metrics()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1 个非数值项目测试验证 None 返回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FangSong"/>
              </a:defRPr>
            </a:pPr>
            <a:r>
              <a:t>参考: 数值精度 22 个测试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TestHelperFunctions (2)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TestNonNumericalProject (3)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TestNumericalProjectBasic (2)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TestNumericalStability (2)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TestRoundoffSensitivity (1)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TestMMSVerification (2)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TestNVRRules (4)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TestAllMetricsIntegration (1)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TestFortranSupport (5)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1">
                <a:solidFill>
                  <a:srgbClr val="4ECB71"/>
                </a:solidFill>
                <a:latin typeface="FangSong"/>
              </a:defRPr>
            </a:pPr>
            <a:r>
              <a:t>全部 22/22 通过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/>
              </a:defRPr>
            </a:pPr>
            <a:r>
              <a:t>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t>B2: 变异测试 (关键)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t>Prompt: Mutation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FangSong"/>
              </a:defRPr>
            </a:pPr>
            <a:r>
              <a:t>变异测试原理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在好代码中故意引入缺陷 --&gt; 验证工具能检出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400" b="1">
                <a:solidFill>
                  <a:srgbClr val="00D4FF"/>
                </a:solidFill>
                <a:latin typeface="FangSong"/>
              </a:defRPr>
            </a:pPr>
            <a:r>
              <a:t>MUT-004 完整流程: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Step 1: 在 good_project 上运行工具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      baseline overall = 92.0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Step 2: 删除 MMS 测试文件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      (mms_test.cpp)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Step 3: 再次运行工具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      mutated overall = 76.67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Step 4: 断言</a:t>
            </a:r>
          </a:p>
          <a:p>
            <a:pPr>
              <a:spcBef>
                <a:spcPts val="300"/>
              </a:spcBef>
              <a:defRPr sz="1100" b="1">
                <a:solidFill>
                  <a:srgbClr val="4ECB71"/>
                </a:solidFill>
                <a:latin typeface="FangSong"/>
              </a:defRPr>
            </a:pPr>
            <a:r>
              <a:t>         assert score_dropped = True  PASS</a:t>
            </a:r>
          </a:p>
          <a:p>
            <a:pPr>
              <a:spcBef>
                <a:spcPts val="300"/>
              </a:spcBef>
              <a:defRPr sz="1100" b="1">
                <a:solidFill>
                  <a:srgbClr val="4ECB71"/>
                </a:solidFill>
                <a:latin typeface="FangSong"/>
              </a:defRPr>
            </a:pPr>
            <a:r>
              <a:t>         assert NVR-005 triggered = True  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FangSong"/>
              </a:defRPr>
            </a:pPr>
            <a:r>
              <a:t>6 个变异案例一览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MUT-001: 删除 CFL 控制行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--&gt; 验证 NVR-001 检测</a:t>
            </a:r>
          </a:p>
          <a:p>
            <a:pPr>
              <a:spcBef>
                <a:spcPts val="300"/>
              </a:spcBef>
              <a:defRPr sz="2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MUT-002: 删除预处理器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--&gt; 验证 NVR-002 检测</a:t>
            </a:r>
          </a:p>
          <a:p>
            <a:pPr>
              <a:spcBef>
                <a:spcPts val="300"/>
              </a:spcBef>
              <a:defRPr sz="2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MUT-003: 删除 Kahan 函数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--&gt; 验证 NVR-004 检测</a:t>
            </a:r>
          </a:p>
          <a:p>
            <a:pPr>
              <a:spcBef>
                <a:spcPts val="300"/>
              </a:spcBef>
              <a:defRPr sz="2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MUT-004: 删除 MMS 文件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--&gt; 验证 NVR-005 检测</a:t>
            </a:r>
          </a:p>
          <a:p>
            <a:pPr>
              <a:spcBef>
                <a:spcPts val="300"/>
              </a:spcBef>
              <a:defRPr sz="2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MUT-005: 删除 tolerance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--&gt; 验证 NVR-008 检测</a:t>
            </a:r>
          </a:p>
          <a:p>
            <a:pPr>
              <a:spcBef>
                <a:spcPts val="300"/>
              </a:spcBef>
              <a:defRPr sz="2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MUT-006: 引入 a-b 相消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--&gt; 验证 NVR-003 计数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1">
                <a:solidFill>
                  <a:srgbClr val="4ECB71"/>
                </a:solidFill>
                <a:latin typeface="FangSong"/>
              </a:defRPr>
            </a:pPr>
            <a:r>
              <a:t>所有 6/6 变异测试通过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/>
              </a:defRPr>
            </a:pPr>
            <a:r>
              <a:t>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t>B3: 5 项目基线数据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t>Prompt: External Validation Baseline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68580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6492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FangSong"/>
              </a:defRPr>
            </a:pPr>
            <a:r>
              <a:t>5 项目基线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| 项目    | 评分   | NVR | 最强维度    | 最弱维度    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|:--------|:-----:|:---:|:-----------|:------------|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| MOOSE   | 96.0  | 1   | 5维满分    | 舍入误差80 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| deal.II | 96.0  | 1   | 5维满分    | 舍入误差80 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| FreeFEM | 96.0  | 1   | 5维满分    | 舍入误差80 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| MFEM    | 96.0  | 1   | 5维满分    | 舍入误差80 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| FEniCSx | 46.33 | 6   | 回归100   | MMS 0/误差30|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097280"/>
            <a:ext cx="41148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0" y="1234440"/>
            <a:ext cx="3749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300" b="1">
                <a:solidFill>
                  <a:srgbClr val="4ECB71"/>
                </a:solidFill>
                <a:latin typeface="FangSong"/>
              </a:defRPr>
            </a:pPr>
            <a:r>
              <a:t>回归测试 38 用例全部通过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综合评分偏移 &lt; 2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NVR 数量不变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维度评分偏移 &lt; 5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NVR output_level 不升级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/>
              </a:defRPr>
            </a:pPr>
            <a:r>
              <a:t>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t>B3: k-fold 交叉验证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t>Prompt: External Validation Baseline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FangSong"/>
              </a:defRPr>
            </a:pPr>
            <a:r>
              <a:t>k-fold 交叉验证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方法: Leave-One-Out (5折)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| 测试集   |  在范围?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|:---------|:-------:|</a:t>
            </a:r>
          </a:p>
          <a:p>
            <a:pPr>
              <a:spcBef>
                <a:spcPts val="300"/>
              </a:spcBef>
              <a:defRPr sz="1100" b="0">
                <a:solidFill>
                  <a:srgbClr val="4ECB71"/>
                </a:solidFill>
                <a:latin typeface="FangSong"/>
              </a:defRPr>
            </a:pPr>
            <a:r>
              <a:t>| MOOSE    |   YES   |</a:t>
            </a:r>
          </a:p>
          <a:p>
            <a:pPr>
              <a:spcBef>
                <a:spcPts val="300"/>
              </a:spcBef>
              <a:defRPr sz="1100" b="0">
                <a:solidFill>
                  <a:srgbClr val="4ECB71"/>
                </a:solidFill>
                <a:latin typeface="FangSong"/>
              </a:defRPr>
            </a:pPr>
            <a:r>
              <a:t>| deal.II  |   YES   |</a:t>
            </a:r>
          </a:p>
          <a:p>
            <a:pPr>
              <a:spcBef>
                <a:spcPts val="300"/>
              </a:spcBef>
              <a:defRPr sz="1100" b="0">
                <a:solidFill>
                  <a:srgbClr val="4ECB71"/>
                </a:solidFill>
                <a:latin typeface="FangSong"/>
              </a:defRPr>
            </a:pPr>
            <a:r>
              <a:t>| FreeFEM  |   YES   |</a:t>
            </a:r>
          </a:p>
          <a:p>
            <a:pPr>
              <a:spcBef>
                <a:spcPts val="300"/>
              </a:spcBef>
              <a:defRPr sz="1100" b="0">
                <a:solidFill>
                  <a:srgbClr val="4ECB71"/>
                </a:solidFill>
                <a:latin typeface="FangSong"/>
              </a:defRPr>
            </a:pPr>
            <a:r>
              <a:t>| MFEM     |   YES   |</a:t>
            </a:r>
          </a:p>
          <a:p>
            <a:pPr>
              <a:spcBef>
                <a:spcPts val="300"/>
              </a:spcBef>
              <a:defRPr sz="1100" b="0">
                <a:solidFill>
                  <a:srgbClr val="FFA500"/>
                </a:solidFill>
                <a:latin typeface="FangSong"/>
              </a:defRPr>
            </a:pPr>
            <a:r>
              <a:t>| FEniCSx  |   NO   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| (合法离群点)   |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400" b="1">
                <a:solidFill>
                  <a:srgbClr val="4ECB71"/>
                </a:solidFill>
                <a:latin typeface="FangSong"/>
              </a:defRPr>
            </a:pPr>
            <a:r>
              <a:t>泛化能力: 4/5 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FangSong"/>
              </a:defRPr>
            </a:pPr>
            <a:r>
              <a:t>NVR 规则泛化性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4ECB71"/>
                </a:solidFill>
                <a:latin typeface="FangSong"/>
              </a:defRPr>
            </a:pPr>
            <a:r>
              <a:t>NVR-003 (相消): 5/5 轮稳定触发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NVR-001/005/007/008/012: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仅 FEniCSx 触发，其它不触发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说明规则对高分项目的误报率低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/>
              </a:defRPr>
            </a:pPr>
            <a:r>
              <a:t>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t>B4: 三方一致性检查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t>Prompt: Three-way Consistency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FangSong"/>
              </a:defRPr>
            </a:pPr>
            <a:r>
              <a:t>一致性检查内容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1. 版本声明一致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GUIDE_VERSION = 1.8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SKILL_VERSION = 1.6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2. Skill 文本中的公式 vs 工具实现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debt_ratio = low_score_count / 6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score = max(0, 100 - debt_ratio * 200)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3. NVR-012 触发阈值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debt_ratio &gt; 0.3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FangSong"/>
              </a:defRPr>
            </a:pPr>
            <a:r>
              <a:t>consistency_check.py 执行输出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100" b="1">
                <a:solidFill>
                  <a:srgbClr val="4ECB71"/>
                </a:solidFill>
                <a:latin typeface="FangSong"/>
              </a:defRPr>
            </a:pPr>
            <a:r>
              <a:t>[TOOL] GUIDE_VERSION = 1.8</a:t>
            </a:r>
          </a:p>
          <a:p>
            <a:pPr>
              <a:spcBef>
                <a:spcPts val="300"/>
              </a:spcBef>
              <a:defRPr sz="1100" b="1">
                <a:solidFill>
                  <a:srgbClr val="4ECB71"/>
                </a:solidFill>
                <a:latin typeface="FangSong"/>
              </a:defRPr>
            </a:pPr>
            <a:r>
              <a:t>[TOOL] SKILL_VERSION = 1.6</a:t>
            </a:r>
          </a:p>
          <a:p>
            <a:pPr>
              <a:spcBef>
                <a:spcPts val="300"/>
              </a:spcBef>
              <a:defRPr sz="1100" b="0">
                <a:solidFill>
                  <a:srgbClr val="4ECB71"/>
                </a:solidFill>
                <a:latin typeface="FangSong"/>
              </a:defRPr>
            </a:pPr>
            <a:r>
              <a:t>[SKILL] debt_ratio = low_score_count / 6: OK</a:t>
            </a:r>
          </a:p>
          <a:p>
            <a:pPr>
              <a:spcBef>
                <a:spcPts val="300"/>
              </a:spcBef>
              <a:defRPr sz="1100" b="0">
                <a:solidFill>
                  <a:srgbClr val="4ECB71"/>
                </a:solidFill>
                <a:latin typeface="FangSong"/>
              </a:defRPr>
            </a:pPr>
            <a:r>
              <a:t>[SKILL] score = max(0, 100-debt_ratio*200): OK</a:t>
            </a:r>
          </a:p>
          <a:p>
            <a:pPr>
              <a:spcBef>
                <a:spcPts val="300"/>
              </a:spcBef>
              <a:defRPr sz="1100" b="0">
                <a:solidFill>
                  <a:srgbClr val="4ECB71"/>
                </a:solidFill>
                <a:latin typeface="FangSong"/>
              </a:defRPr>
            </a:pPr>
            <a:r>
              <a:t>[SKILL] NVR-012 trigger (33.3%): OK</a:t>
            </a:r>
          </a:p>
          <a:p>
            <a:pPr>
              <a:spcBef>
                <a:spcPts val="300"/>
              </a:spcBef>
              <a:defRPr sz="1100" b="0">
                <a:solidFill>
                  <a:srgbClr val="4ECB71"/>
                </a:solidFill>
                <a:latin typeface="FangSong"/>
              </a:defRPr>
            </a:pPr>
            <a:r>
              <a:t>[TOOL] code debt_ratio formula: OK</a:t>
            </a:r>
          </a:p>
          <a:p>
            <a:pPr>
              <a:spcBef>
                <a:spcPts val="300"/>
              </a:spcBef>
              <a:defRPr sz="1100" b="0">
                <a:solidFill>
                  <a:srgbClr val="4ECB71"/>
                </a:solidFill>
                <a:latin typeface="FangSong"/>
              </a:defRPr>
            </a:pPr>
            <a:r>
              <a:t>[TOOL] code score formula: OK</a:t>
            </a:r>
          </a:p>
          <a:p>
            <a:pPr>
              <a:spcBef>
                <a:spcPts val="300"/>
              </a:spcBef>
              <a:defRPr sz="1100" b="0">
                <a:solidFill>
                  <a:srgbClr val="4ECB71"/>
                </a:solidFill>
                <a:latin typeface="FangSong"/>
              </a:defRPr>
            </a:pPr>
            <a:r>
              <a:t>[TOOL] code NVR-012 trigger: OK</a:t>
            </a:r>
          </a:p>
          <a:p>
            <a:pPr>
              <a:spcBef>
                <a:spcPts val="300"/>
              </a:spcBef>
              <a:defRPr sz="4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400" b="1">
                <a:solidFill>
                  <a:srgbClr val="4ECB71"/>
                </a:solidFill>
                <a:latin typeface="FangSong"/>
              </a:defRPr>
            </a:pPr>
            <a:r>
              <a:t>结果: PASS - 三方一致</a:t>
            </a:r>
          </a:p>
          <a:p>
            <a:pPr>
              <a:spcBef>
                <a:spcPts val="300"/>
              </a:spcBef>
              <a:defRPr sz="1200" b="0">
                <a:solidFill>
                  <a:srgbClr val="00D4FF"/>
                </a:solidFill>
                <a:latin typeface="FangSong"/>
              </a:defRPr>
            </a:pPr>
            <a:r>
              <a:t>指南 v1.8 &lt;-&gt; Skill v1.6 &lt;-&gt; Tool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/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t>C1: 注册 OpenCode 智能体 (关键)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t>Prompt: Register OpenCode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FangSong"/>
              </a:defRPr>
            </a:pPr>
            <a:r>
              <a:t>Agent 配置文件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---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description: 数值精度评估智能体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mode: subagent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subtask: true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permission: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read: allow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bash: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 "*": ask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 "arch-quality*": allow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edit: deny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task: allow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skill: allow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---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FangSong"/>
              </a:defRPr>
            </a:pPr>
            <a:r>
              <a:t>opencode.jsonc 注册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"agent": {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"numerical-accuracy": {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 "description":"数值精度评估",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 "prompt_file":"~/.config/.../SKILL.md",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 "mode":"subagent",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 "subtask":true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}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}</a:t>
            </a:r>
          </a:p>
          <a:p>
            <a:pPr>
              <a:spcBef>
                <a:spcPts val="300"/>
              </a:spcBef>
              <a:defRPr sz="4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300" b="1">
                <a:solidFill>
                  <a:srgbClr val="00D4FF"/>
                </a:solidFill>
                <a:latin typeface="FangSong"/>
              </a:defRPr>
            </a:pPr>
            <a:r>
              <a:t>command 注册: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"assess-numerical": {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"template":"请运行数值精度评估...",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"agent":"numerical-accuracy"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/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t>C2: CI/CD 门禁配置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t>Prompt: CI/CD Gate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FangSong"/>
              </a:defRPr>
            </a:pPr>
            <a:r>
              <a:t>GitHub Actions workflow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100" b="1">
                <a:solidFill>
                  <a:srgbClr val="4ECB71"/>
                </a:solidFill>
                <a:latin typeface="FangSong"/>
              </a:defRPr>
            </a:pPr>
            <a:r>
              <a:t>name: Architecture Quality Check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on: [push, pull_request]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jobs: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assess: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 runs-on: ubuntu-latest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 steps: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   - uses: actions/checkout@v4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   - run: pip install arch-quality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   - run: tool . --json &gt; report.json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FangSong"/>
              </a:defRPr>
            </a:pPr>
            <a:r>
              <a:t>NVR 阻断逻辑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100" b="1">
                <a:solidFill>
                  <a:srgbClr val="00D4FF"/>
                </a:solidFill>
                <a:latin typeface="FangSong"/>
              </a:defRPr>
            </a:pPr>
            <a:r>
              <a:t>python -c "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import json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r = json.load(open("report.json"))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errors = [v for v in r["nvr_violations"]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      if v["output_level"] == "ERROR"]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if errors: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 print(f"BLOCKED: {len(errors)} ERROR")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    exit(1)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print(f"PASS: Overall={r[overall]}")</a:t>
            </a:r>
          </a:p>
          <a:p>
            <a:pPr>
              <a:spcBef>
                <a:spcPts val="300"/>
              </a:spcBef>
              <a:defRPr sz="1100" b="1">
                <a:solidFill>
                  <a:srgbClr val="00D4FF"/>
                </a:solidFill>
                <a:latin typeface="FangSong"/>
              </a:defRPr>
            </a:pPr>
            <a:r>
              <a:t>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/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t>C3+C4: 用户提示词 + 报告模板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t>Prompt: User Prompts &amp; Report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FangSong"/>
              </a:defRPr>
            </a:pPr>
            <a:r>
              <a:t>5 个用户交互提示词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1. 完整评估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"请对[项目]运行完整评估，输出6维评分"</a:t>
            </a:r>
          </a:p>
          <a:p>
            <a:pPr>
              <a:spcBef>
                <a:spcPts val="300"/>
              </a:spcBef>
              <a:defRPr sz="2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2. 单维度分析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"请分析 MMS 验证完备性"</a:t>
            </a:r>
          </a:p>
          <a:p>
            <a:pPr>
              <a:spcBef>
                <a:spcPts val="300"/>
              </a:spcBef>
              <a:defRPr sz="2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3. NVR 解读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"解释 NVR-003 的具体情况"</a:t>
            </a:r>
          </a:p>
          <a:p>
            <a:pPr>
              <a:spcBef>
                <a:spcPts val="300"/>
              </a:spcBef>
              <a:defRPr sz="2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4. 改进建议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"给出 P0/P1/P2 分级改进建议"</a:t>
            </a:r>
          </a:p>
          <a:p>
            <a:pPr>
              <a:spcBef>
                <a:spcPts val="300"/>
              </a:spcBef>
              <a:defRPr sz="2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5. 版本对比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"对比最近两次结果，检测退化"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FangSong"/>
              </a:defRPr>
            </a:pPr>
            <a:r>
              <a:t>Markdown 报告模板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# [领域]评估报告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项目：[项目名] | 综合评分：[分]/100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## 维度评分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| 维度 | 权重 | 得分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|:-----|:----:|:----:|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| 维度1| N%   | [分]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## NVR/MLR 违规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| 规则 | 级别 | 数量 | 说明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|:-----|:----:|:----:|:------|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## 改进建议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| 优先级 | 建议 | 预期提分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FangSong"/>
              </a:defRPr>
            </a:pPr>
            <a:r>
              <a:t>|:------:|:-----|:--------:|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/>
              </a:defRPr>
            </a:pPr>
            <a:r>
              <a:t>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t>5 个关键决策树（1 页汇总）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t>Key Design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24712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800" b="0">
                <a:solidFill>
                  <a:srgbClr val="AAAAAA"/>
                </a:solidFill>
                <a:latin typeface="FangSong"/>
              </a:defRPr>
            </a:pPr>
            <a:r>
              <a:t>| # | 决策 | 选项A | 选中B | 教训 |</a:t>
            </a:r>
          </a:p>
          <a:p>
            <a:pPr>
              <a:spcBef>
                <a:spcPts val="300"/>
              </a:spcBef>
              <a:defRPr sz="800" b="0">
                <a:solidFill>
                  <a:srgbClr val="AAAAAA"/>
                </a:solidFill>
                <a:latin typeface="FangSong"/>
              </a:defRPr>
            </a:pPr>
            <a:r>
              <a:t>|:-:|:-----|:------|:------|:------|</a:t>
            </a:r>
          </a:p>
          <a:p>
            <a:pPr>
              <a:spcBef>
                <a:spcPts val="300"/>
              </a:spcBef>
              <a:defRPr sz="800" b="0">
                <a:solidFill>
                  <a:srgbClr val="AAAAAA"/>
                </a:solidFill>
                <a:latin typeface="FangSong"/>
              </a:defRPr>
            </a:pPr>
            <a:r>
              <a:t>| 1 | 公式独立编写 | 严格遵循(50+50),无法自动评分 | 工程改写(40+30+30),可执行 | 指南公式一开始就要可执行 |</a:t>
            </a:r>
          </a:p>
          <a:p>
            <a:pPr>
              <a:spcBef>
                <a:spcPts val="300"/>
              </a:spcBef>
              <a:defRPr sz="800" b="0">
                <a:solidFill>
                  <a:srgbClr val="AAAAAA"/>
                </a:solidFill>
                <a:latin typeface="FangSong"/>
              </a:defRPr>
            </a:pPr>
            <a:r>
              <a:t>| 2 | richardson | 裸词,94处匹配93处误报 | richardson_extrap,误报清零 | 关键词须避自然人名词 |</a:t>
            </a:r>
          </a:p>
          <a:p>
            <a:pPr>
              <a:spcBef>
                <a:spcPts val="300"/>
              </a:spcBef>
              <a:defRPr sz="800" b="0">
                <a:solidFill>
                  <a:srgbClr val="AAAAAA"/>
                </a:solidFill>
                <a:latin typeface="FangSong"/>
              </a:defRPr>
            </a:pPr>
            <a:r>
              <a:t>| 3 | 债务粒度 | 模块级,"模块"无法精确定义 | 维度级,low_score_count/6已验证 | 指南避免抽象概念 |</a:t>
            </a:r>
          </a:p>
          <a:p>
            <a:pPr>
              <a:spcBef>
                <a:spcPts val="300"/>
              </a:spcBef>
              <a:defRPr sz="800" b="0">
                <a:solidFill>
                  <a:srgbClr val="AAAAAA"/>
                </a:solidFill>
                <a:latin typeface="FangSong"/>
              </a:defRPr>
            </a:pPr>
            <a:r>
              <a:t>| 4 | MMS阈值 | &gt;=1,太宽松 | &gt;=3,MMS需&gt;=3套网格 | 阈值须理论+实证 |</a:t>
            </a:r>
          </a:p>
          <a:p>
            <a:pPr>
              <a:spcBef>
                <a:spcPts val="300"/>
              </a:spcBef>
              <a:defRPr sz="800" b="0">
                <a:solidFill>
                  <a:srgbClr val="AAAAAA"/>
                </a:solidFill>
                <a:latin typeface="FangSong"/>
              </a:defRPr>
            </a:pPr>
            <a:r>
              <a:t>| 5 | 求解器过滤 | 不过滤,全误报 | err_score守卫,仅求解器触发 | check_rules须处理None |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000" b="1">
                <a:solidFill>
                  <a:srgbClr val="00D4FF"/>
                </a:solidFill>
                <a:latin typeface="FangSong"/>
              </a:defRPr>
            </a:pPr>
            <a:r>
              <a:t>核心教训: 指南公式可执行 / 关键词避人名 / 阈值须实证 / check处理None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/>
              </a:defRPr>
            </a:pPr>
            <a:r>
              <a:t>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Microsoft YaHei"/>
              </a:defRPr>
            </a:pPr>
            <a:r>
              <a:t>验证里程碑与开发教训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FangSong"/>
              </a:defRPr>
            </a:pPr>
            <a:r>
              <a:t>Milestones &amp; Lessons Learned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FangSong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600" b="1">
                <a:solidFill>
                  <a:srgbClr val="00D4FF"/>
                </a:solidFill>
                <a:latin typeface="FangSong"/>
              </a:defRPr>
            </a:pPr>
            <a:r>
              <a:t>4 周开发时间线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第1周: 指南1.0 + Skill1.0 + 工具原型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     4 项目初步验证</a:t>
            </a:r>
          </a:p>
          <a:p>
            <a:pPr>
              <a:spcBef>
                <a:spcPts val="300"/>
              </a:spcBef>
              <a:defRPr sz="2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第2周: 22 个单元测试 + 10 项目验证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     MOOSE 96.0 / FEniCSx 46.33</a:t>
            </a:r>
          </a:p>
          <a:p>
            <a:pPr>
              <a:spcBef>
                <a:spcPts val="300"/>
              </a:spcBef>
              <a:defRPr sz="2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第3周: P0 外部基线 + P1 变异测试</a:t>
            </a:r>
          </a:p>
          <a:p>
            <a:pPr>
              <a:spcBef>
                <a:spcPts val="300"/>
              </a:spcBef>
              <a:defRPr sz="1100" b="0">
                <a:solidFill>
                  <a:srgbClr val="4ECB71"/>
                </a:solidFill>
                <a:latin typeface="FangSong"/>
              </a:defRPr>
            </a:pPr>
            <a:r>
              <a:t>        richardson 误报发现与修复</a:t>
            </a:r>
          </a:p>
          <a:p>
            <a:pPr>
              <a:spcBef>
                <a:spcPts val="300"/>
              </a:spcBef>
              <a:defRPr sz="1100" b="0">
                <a:solidFill>
                  <a:srgbClr val="4ECB71"/>
                </a:solidFill>
                <a:latin typeface="FangSong"/>
              </a:defRPr>
            </a:pPr>
            <a:r>
              <a:t>        三方一致性修复 (指南1.8/Skill1.6)</a:t>
            </a:r>
          </a:p>
          <a:p>
            <a:pPr>
              <a:spcBef>
                <a:spcPts val="300"/>
              </a:spcBef>
              <a:defRPr sz="2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FangSong"/>
              </a:defRPr>
            </a:pPr>
            <a:r>
              <a:t>第4周: P2 人工评审框架 + P3 k-fold</a:t>
            </a:r>
          </a:p>
          <a:p>
            <a:pPr>
              <a:spcBef>
                <a:spcPts val="300"/>
              </a:spcBef>
              <a:defRPr sz="1100" b="0">
                <a:solidFill>
                  <a:srgbClr val="4ECB71"/>
                </a:solidFill>
                <a:latin typeface="FangSong"/>
              </a:defRPr>
            </a:pPr>
            <a:r>
              <a:t>        Valgrind 交叉验证实验</a:t>
            </a:r>
          </a:p>
          <a:p>
            <a:pPr>
              <a:spcBef>
                <a:spcPts val="300"/>
              </a:spcBef>
              <a:defRPr sz="1100" b="0">
                <a:solidFill>
                  <a:srgbClr val="4ECB71"/>
                </a:solidFill>
                <a:latin typeface="FangSong"/>
              </a:defRPr>
            </a:pPr>
            <a:r>
              <a:t>        SKILL 开发指南完成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600" b="1">
                <a:solidFill>
                  <a:srgbClr val="00D4FF"/>
                </a:solidFill>
                <a:latin typeface="FangSong"/>
              </a:defRPr>
            </a:pPr>
            <a:r>
              <a:t>核心教训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1">
                <a:solidFill>
                  <a:srgbClr val="FF6B6B"/>
                </a:solidFill>
                <a:latin typeface="FangSong"/>
              </a:defRPr>
            </a:pPr>
            <a:r>
              <a:t>1. 三方不一致根因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指南/Skill/工具各自独立编写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没有版本同步机制</a:t>
            </a:r>
          </a:p>
          <a:p>
            <a:pPr>
              <a:spcBef>
                <a:spcPts val="300"/>
              </a:spcBef>
              <a:defRPr sz="2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1">
                <a:solidFill>
                  <a:srgbClr val="FF6B6B"/>
                </a:solidFill>
                <a:latin typeface="FangSong"/>
              </a:defRPr>
            </a:pPr>
            <a:r>
              <a:t>2. 静态分析局限性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关键词匹配误报率高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需要 AST/图分析补充</a:t>
            </a:r>
          </a:p>
          <a:p>
            <a:pPr>
              <a:spcBef>
                <a:spcPts val="300"/>
              </a:spcBef>
              <a:defRPr sz="2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1">
                <a:solidFill>
                  <a:srgbClr val="FF6B6B"/>
                </a:solidFill>
                <a:latin typeface="FangSong"/>
              </a:defRPr>
            </a:pPr>
            <a:r>
              <a:t>3. 动态工具缺失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has_dynamic_tool 仅匹配关键词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需要 Valgrind/Verrou 实际报告</a:t>
            </a:r>
          </a:p>
          <a:p>
            <a:pPr>
              <a:spcBef>
                <a:spcPts val="300"/>
              </a:spcBef>
              <a:defRPr sz="200" b="0">
                <a:solidFill>
                  <a:srgbClr val="F0F0F0"/>
                </a:solidFill>
                <a:latin typeface="FangSong"/>
              </a:defRPr>
            </a:pPr>
          </a:p>
          <a:p>
            <a:pPr>
              <a:spcBef>
                <a:spcPts val="300"/>
              </a:spcBef>
              <a:defRPr sz="1200" b="1">
                <a:solidFill>
                  <a:srgbClr val="FF6B6B"/>
                </a:solidFill>
                <a:latin typeface="FangSong"/>
              </a:defRPr>
            </a:pPr>
            <a:r>
              <a:t>4. 案例集自我引用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测试案例与检测模式同源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FangSong"/>
              </a:defRPr>
            </a:pPr>
            <a:r>
              <a:t>   需要 P0/P1/P2/P3 逐层打破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560320"/>
            <a:ext cx="12188952" cy="18288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Microsoft YaHei"/>
              </a:defRPr>
            </a:pPr>
            <a:r>
              <a:t>谢谢 | 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1A1A2E"/>
                </a:solidFill>
                <a:latin typeface="FangSong"/>
              </a:defRPr>
            </a:pPr>
            <a:r>
              <a:t>问题与讨论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FangSong"/>
              </a:defRPr>
            </a:pPr>
            <a:r>
              <a:t>arch-quality  SKILL 开发指南  v1.0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
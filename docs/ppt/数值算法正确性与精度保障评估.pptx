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88952" cy="2286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数值算法正确性与精度保障评估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1A1A2E"/>
                </a:solidFill>
                <a:latin typeface="Consolas"/>
              </a:defRPr>
            </a:pPr>
            <a:r>
              <a:rPr a:altLang="zh-CN"/>
              <a:t>Numerical Accuracy &amp; Stability Assurance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面向工业软件开发、测试与QA人员的完整评估体系</a:t>
            </a:r>
            <a:br/>
            <a:r>
              <a:rPr a:altLang="zh-CN"/>
              <a:t>基于10个开源项目的验证实践 | arch-quality v1.7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0" cy="53035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1. 背景与问题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工业软件中的数值算法困境 | 传统评估盲区 | 行业事故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2. 核心原理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6维评估模型 | 12条NVR规则 | 置信度标注 | MMS制造解法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3. 方法论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静态分析技术 | 评分算法 | 收敛阶计算 | 基线校准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4. 工程意义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数值债务量化 | CI/CD集成 | 工业标杆对比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5. 应用场景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CFD求解器 | FEM求解器 | 多物理场框架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6. 智能Skill与评估工具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arch-quality工具链 | MMS Testing Skill | 报告生成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7. 优缺点与改进方向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优势 | 局限性 | 路线图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0F0F0"/>
                </a:solidFill>
                <a:latin typeface="FangSong"/>
              </a:defRPr>
            </a:pPr>
            <a:r>
              <a:t>8. QA与总结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常见问题 | 最佳实践 | 开放协作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第一章：背景与问题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1: Background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工业软件的数值算法困境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代码逻辑正确 ≠ 数值结果正确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浮点精度、离散误差、稳定性问题无法通过传统代码review发现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D700"/>
                </a:solidFill>
                <a:latin typeface="FangSong"/>
              </a:defRPr>
            </a:pPr>
            <a:r>
              <a:t>• "代码正确但结果错误"是工业软件特有的架构债务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传统质量评估模型（ISO 25010、CK度量集）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完全忽略数值算法的精度属性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传统评估的盲区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结构质量：模块化、耦合度、复杂度 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代码质量：风格、注释、重复率 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测试覆盖：分支覆盖、行覆盖 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FF6B6B"/>
                </a:solidFill>
                <a:latin typeface="FangSong"/>
              </a:defRPr>
            </a:pPr>
            <a:r>
              <a:t>• 数值精度：CFL控制、MMS验证、舍入误差 ✗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FF6B6B"/>
                </a:solidFill>
                <a:latin typeface="FangSong"/>
              </a:defRPr>
            </a:pPr>
            <a:r>
              <a:t>• 收敛性：网格收敛性研究、误差估计 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行业标准映射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ASME V&amp;V 20-2009 —— 计算流体力学与传热验证与确认标准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ASME V&amp;V 10-2019 —— 计算固体力学验证与确认标准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ISO 17534-1:2015 —— 声学计算软件质量要求与保证标准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• 本评估体系将上述标准映射为可执行的 6 维评分模型和 12 条 NVR 规则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工业数值精度事故案例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Real-world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F6B6B"/>
                </a:solidFill>
                <a:latin typeface="FangSong"/>
              </a:defRPr>
            </a:pPr>
            <a:r>
              <a:t>案例一：CFL条件违反导致发散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OpenFOAM rhoCentralFoam显式时间推进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未配置Co数限制（maxCo），时间步过大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结果：求解发散，计算全部浪费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• 检测规则：NVR-001 数值稳定性溢出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F6B6B"/>
                </a:solidFill>
                <a:latin typeface="FangSong"/>
              </a:defRPr>
            </a:pPr>
            <a:r>
              <a:t>案例二：MMS验证缺失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CalculiX FEM求解器无制造解验证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离散实现正确性未经系统验证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风险：边界条件实现错误可被长期掩盖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• 检测规则：NVR-005 MMS验证缺失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F6B6B"/>
                </a:solidFill>
                <a:latin typeface="FangSong"/>
              </a:defRPr>
            </a:pPr>
            <a:r>
              <a:t>案例三：浮点相消损失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变量相减(a-b)中有效数字丢失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PETSc检测到314处、Elmer检测到445处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累积效应：仿真结果偏离物理真实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• 检测规则：NVR-003 相消性损失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FF6B6B"/>
                </a:solidFill>
                <a:latin typeface="FangSong"/>
              </a:defRPr>
            </a:pPr>
            <a:r>
              <a:t>案例四：网格收敛性研究缺失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FEniCSx无网格收敛性研究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离散误差大小未知，仿真结果的可靠性无法评估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• 检测规则：NVR-007 离散误差未控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FFD700"/>
                </a:solidFill>
                <a:latin typeface="FangSong"/>
              </a:defRPr>
            </a:pPr>
            <a:r>
              <a:t>共性：这些缺陷传统代码review发现不了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第二章：核心原理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2: Core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6 维评估模型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综合评分 S = Σ(维度得分 × 权重)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① 数值稳定性保障       25% — CFL控制、隐式格式、稳定化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② 舍入误差与敏感度控制  20% — Kahan求和、动态工具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③ 验证完备性（MMS）    20% — 制造解验证、收敛阶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④ 误差估计与控制       15% — 网格收敛、残差控制、容差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⑤ 数值回归测试覆盖     10% — 关键模块回归、断言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⑥ 数值债务密度         10% — 低分维度占比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12 条 NVR 规则体系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NVR-001  数值稳定性溢出       ERROR  HIGH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NVR-002  条件数超限           ERROR  HIGH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NVR-003  相消性损失           ERROR  HIGH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NVR-004  累积误差失控         WARNING MEDIUM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NVR-005  MMS验证缺失          ERROR  HIGH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NVR-006  观察阶偏差           ERROR  HIGH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NVR-007  离散误差未控         WARNING MEDIUM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NVR-008  迭代误差未控         WARNING MEDIUM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NVR-010  回归测试缺失         WARNING MEDIUM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NVR-011  回归断言缺失         INFO   LOW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NVR-012  数值债务密度超标     INFO   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置信度标注与MMS制造解法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Confidence Levels &amp; Method of Manufactured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三级置信度标注（指南1.7新增）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4ECB71"/>
                </a:solidFill>
                <a:latin typeface="FangSong"/>
              </a:defRPr>
            </a:pPr>
            <a:r>
              <a:t>• 高（精确测量）：行数统计、AST精确匹配、配置文件解析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D700"/>
                </a:solidFill>
                <a:latin typeface="FangSong"/>
              </a:defRPr>
            </a:pPr>
            <a:r>
              <a:t>• 中（结构化检查）：关键词存在性检查、AST模式匹配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• 低（启发式推断）：正则匹配、模式推断——需人工复核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使用建议：高→强制处理，中→优先处理，低→人工复核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置信度的工程意义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误报率透明化：低置信度规则告知使用者可能存在误报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门禁决策依据：仅高置信度ERROR可作CI阻断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资源分配指导：先修高置信度问题，低置信度排期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MMS（Method of Manufactured Solutions）制造解法原理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Step 1 选解：选择一个光滑函数 u*，满足边界条件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Step 2 推导源项：将 u* 代入 PDE，解析推导出源项 S = L(u*)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Step 3 数值求解：求解器计算 L(u_ num) = S，得到数值解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Step 4 多套网格：在 h, h/2, h/4, h/8 等多套网格上重复求解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4ECB71"/>
                </a:solidFill>
                <a:latin typeface="FangSong"/>
              </a:defRPr>
            </a:pPr>
            <a:r>
              <a:t>Step 5 判定：计算 L2 误差和收敛阶 p_obs，判定 |p_obs - p_theory| ≤ 0.1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第三章：方法论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3: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静态分析检测技术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0F0F0"/>
                </a:solidFill>
                <a:latin typeface="FangSong"/>
              </a:defRPr>
            </a:pPr>
            <a:r>
              <a:t>1. 关键词正则匹配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CFL_PATTERN → NVR-001 稳定性检测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CANCELLATION_PATTERN → NVR-003 相消检测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KAHAN_PATTERN → NVR-004 累积误差检测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0F0F0"/>
                </a:solidFill>
                <a:latin typeface="FangSong"/>
              </a:defRPr>
            </a:pPr>
            <a:r>
              <a:t>2. 文件内容扫描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MMS_PATTERN → NVR-005 MMS验证检测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MESH_CONVERGENCE_PATTERN → NVR-007 离散误差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RESIDUAL_PATTERN → NVR-008 迭代误差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0F0F0"/>
                </a:solidFill>
                <a:latin typeface="FangSong"/>
              </a:defRPr>
            </a:pPr>
            <a:r>
              <a:t>3. 目录结构分析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Coarse/Fine/Level目录 → 网格细化证据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评分算法示例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4ECB71"/>
                </a:solidFill>
                <a:latin typeface="FangSong"/>
              </a:defRPr>
            </a:pPr>
            <a:r>
              <a:t>数值稳定性（25%）: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if has_cfl_control AND has_stability → 100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has_cfl_control → 80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stability AND cfl_ratio &lt; 0.3 → 70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stability → 50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cfl_ratio &lt; 0.3 → 30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else → 10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4ECB71"/>
                </a:solidFill>
                <a:latin typeface="FangSong"/>
              </a:defRPr>
            </a:pPr>
            <a:r>
              <a:t>MMS验证（20%）: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if mms_count &gt;= 3 AND has_accuracy_order → 100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has_accuracy_order → 80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elif mms_count &gt;= 3 → 50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else → 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4ECB71"/>
                </a:solidFill>
                <a:latin typeface="FangSong"/>
              </a:defRPr>
            </a:pPr>
            <a:r>
              <a:t>回归覆盖（10%）: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coverage = N_ tested / N_ critical ×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收敛阶计算与基线校准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Convergence Order &amp; Baseline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Richardson 外推法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D4FF"/>
                </a:solidFill>
                <a:latin typeface="FangSong"/>
              </a:defRPr>
            </a:pPr>
            <a:r>
              <a:t>p_obs = log(error(h₂)/error(h₁)) / log(h₂/h₁)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网格层次      h           L2误差        p_obs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Refine 0    0.500     1.2e-2        —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Refine 1    0.250     3.0e-3        2.00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Refine 2    0.125     7.5e-4        2.00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Refine 3    0.0625   1.9e-4        1.98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ECB71"/>
                </a:solidFill>
                <a:latin typeface="FangSong"/>
              </a:defRPr>
            </a:pPr>
            <a:r>
              <a:t>• p_obs ≈ 2.0 → 二阶格式实现正确 ✅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00D4FF"/>
                </a:solidFill>
                <a:latin typeface="FangSong"/>
              </a:defRPr>
            </a:pPr>
            <a:r>
              <a:t>• |p_obs - p_theory| ≤ 0.1 → PASS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最后3个点线性拟合（避开预渐近区）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基线校准流程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参照模板元编程体系的统计校准：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1. 收集阳性案例（通过）的评分数据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2. 收集阴性案例（违规）的评分数据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3. 计算阳性案例评分的 5% 分位数作为及格线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4. 计算阳性案例评分的均值作为基准分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5. 验证阴性案例的评分是否全部低于及格线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校准数据来源：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10个开源工业软件项目（MOOSE→FEniCSx）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验证案例集1.1版：11条NVR规则的阳/阴性案例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3位领域专家独立评审确认阈值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第四章：工程意义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4: Engineering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对开发者的价值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量化数值技术债：知道代码库在哪个维度出了问题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精准定位弱项：MMS缺失？CFL失控？舍入误差？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改进优先级：NVR-001/005是ERROR → 先修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对比行业标杆：MOOSE 96.0是怎么做到的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对测试人员的价值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可执行的验收标准：NVR规则 = 测试用例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回归保护：版本间评分变化 → 精度退化告警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自动化验证：MMS收敛阶断言替代手动对比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对QA的价值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CI门禁：每轮提交自动评估，评分下降则告警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版本基线：每个Release打一次基线，追溯精度退化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报告可审计：JSON+Markdown存档，支撑认证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CI/CD集成示例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# 在CI中运行数值精度评估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python -m arch_quality.arch_metrics_numerical_accuracy \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. --full --json &gt; report.json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 检查NVR违规：如果有ERROR级别 → CI失败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python -c "import json; r=json.load(open('report.json'));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nvr=[v for v in r['nvr_violations'] if v['output_level']=='ERROR'];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exit(len(nvr))"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10个开源项目验证排名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Benchmark: 10 Open-Source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评分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NVR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最强维度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F0F0"/>
                          </a:solidFill>
                          <a:latin typeface="FangSong"/>
                        </a:defRPr>
                      </a:pPr>
                      <a:r>
                        <a:t>最弱维度</a:t>
                      </a:r>
                    </a:p>
                  </a:txBody>
                  <a:tcPr anchor="ctr">
                    <a:solidFill>
                      <a:srgbClr val="0055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MOOSE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多物理场FEM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5维满分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舍入误差80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deal.II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FEM库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96.0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5维满分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舍入误差80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FreeFEM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FEM求解器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5维满分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舍入误差80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MFEM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FEM库(LLNL)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96.0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5维满分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舍入误差80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PETSc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数值算法库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MMS 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回归60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Elmer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FEM多物理场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91.0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验证/误差100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舍入误差55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SU2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CFD求解器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85.67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稳定性/验证/误差100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回归30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OpenFOAM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CFD求解器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80.67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稳定性/验证/误差100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回归30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CalculiX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FEM求解器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76.67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稳定性100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MMS 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FEniCSx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FEM框架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46.33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回归100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AAAA"/>
                          </a:solidFill>
                          <a:latin typeface="FangSong"/>
                        </a:defRPr>
                      </a:pPr>
                      <a:r>
                        <a:t>MMS 0, 误差30</a:t>
                      </a:r>
                    </a:p>
                  </a:txBody>
                  <a:tcPr anchor="ctr"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第五章：应用场景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5: Application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CFD 求解器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OpenFOAM：最全面的测试覆盖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20条案例集对照100%一致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  失分项：回归覆盖仅8.1%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SU2：开源CFD标杆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稳定性/验证/误差全满分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  失分项：回归覆盖23.9%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综合评分85.67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FEM 求解器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CalculiX：FEM基本盘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稳定性满分，但MMS完全缺失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综合评分76.67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Elmer：多物理场FEM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105个MMS文件，验证完备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  失分项：445处相消无动态工具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综合评分91.0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0D4FF"/>
                </a:solidFill>
                <a:latin typeface="FangSong"/>
              </a:defRPr>
            </a:pPr>
            <a:r>
              <a:t>多物理场框架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MOOSE：最佳实践模板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符号化MMS工作流(python/mms/)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47个MMS文件、1321个测试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4ECB71"/>
                </a:solidFill>
                <a:latin typeface="FangSong"/>
              </a:defRPr>
            </a:pPr>
            <a:r>
              <a:t>  综合评分96.0 ✅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FEniCSx：反面警示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MMS完全缺失，CFL控制缺失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FF6B6B"/>
                </a:solidFill>
                <a:latin typeface="FangSong"/>
              </a:defRPr>
            </a:pPr>
            <a:r>
              <a:t>  6条NVR违规，综合46.33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改进空间巨大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第六章：智能Skill与评估工具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6: Smart Skill &amp; Assessment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arch-quality工具链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arch_metrics_numerical_accuracy.py (883行)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FileIndex：源码文件扫描与索引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6个calc_*()方法：各维度评分计算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check_nvr_rules()：12条NVR规则检测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all_metrics()：综合评分聚合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命令行调用：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python -m arch_quality.arch_metrics_numerical_accuracy \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/path/to/project --full --json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MMS Testing Skill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基于SymPy的符号化PDE求值引擎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00D4FF"/>
                </a:solidFill>
                <a:latin typeface="FangSong"/>
              </a:defRPr>
            </a:pPr>
            <a:r>
              <a:t>• 自动推导源项：f = mms.evaluate(pde, soln)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自动代码生成：print_hit(f, "mms_force")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自动收敛研究：run_spatial("file.i", 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自动PASS/FAIL：|p_obs - p_theory| ≤ 0.1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numerical-accuracy Skill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领域知识封装：维度定义、评分算法、NVR规则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版本绑定：指南1.7 ↔ Skill 1.5 ↔ 实现代码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豁免注解体系：@mms_exempt、@order_deviation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自动化报告生成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Automated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JSON报告（机器可读）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{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"overall": 96.0,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"dimensions": { ... },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"nvr_violations": [ ... ],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"version_info": {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"guide_version": "1.7",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"skill_version": "1.5"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}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AAAAAA"/>
                </a:solidFill>
                <a:latin typeface="FangSong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Markdown报告（人可读）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每个项目独立验证报告：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 MOOSE_数值算法验证报告.md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 dealII_数值算法验证报告.md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 FEniCSx_数值算法验证报告.md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汇总报告：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D4FF"/>
                </a:solidFill>
                <a:latin typeface="FangSong"/>
              </a:defRPr>
            </a:pPr>
            <a:r>
              <a:t>  - 数值算法验证总结报告.md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验证数据存档：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 .opencode/arch-reports/YYYY-MM-DD/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三方能一致性检查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指南 §5 · NVR规则定义  →  Skill §5 · 评分算法定义  →  实现代码 · 检测逻辑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任何一方修改必须同步更新其他两方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版本号绑定（guide_version/skill_version）确保一致性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验证案例集1.1版：11条规则 × 阳/阴性案例 = 23个测试点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第七章：优缺点与改进方向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7: Strengths, 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4ECB71"/>
                </a:solidFill>
                <a:latin typeface="FangSong"/>
              </a:defRPr>
            </a:pPr>
            <a:r>
              <a:t>优势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全自动化：一行命令完成6维评分 + 12条NVR检测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可复现：同一项目多次评估结果一致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6维全面覆盖：稳定性→债务的完整评估链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工业标杆对标：10个项目基准可横向对比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版本跟踪：guide/skill/code三方绑定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CI就绪：JSON输出+退出码, 可用于门禁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✅ 置信度透明：区分高/中/低, 误报可预期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FF6B6B"/>
                </a:solidFill>
                <a:latin typeface="FangSong"/>
              </a:defRPr>
            </a:pPr>
            <a:r>
              <a:t>局限性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❌ 静态分析精度有限：关键词匹配可能误报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   例：Richardson匹配开发者姓名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（已修复：→ richardson_extrap）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❌ 子串匹配：refinement中的fine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（已修复：+_x0008_词边界）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❌ 无运行时动态分析：依赖源码静态扫描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❌ 语言覆盖有限：C/C++/Fortran为主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❌ 大型项目扫描慢：24k文件耗时数分钟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改进方向与路线图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短期（P0-P1）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正则→AST精确匹配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libclang/tree-sitter集成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消除大部分误报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多语言扩展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Python/Julia/Rust数值代码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CUDA/HIP GPU计算代码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动态分析集成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Valgrind/Verrou/CADNA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运行时精度分析→验证静态检测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中期（P2-P3）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社区案例库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扩充到20+开源项目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code_aster、Trilinos等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阈值自动校准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ML驱动的案例→阈值映射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减少人工评审依赖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VS Code插件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实时评分 + 行内标注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代码编写时即时反馈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D4FF"/>
                </a:solidFill>
                <a:latin typeface="FangSong"/>
              </a:defRPr>
            </a:pPr>
            <a:r>
              <a:t>长期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国际标准映射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ASME V&amp;V → NVR规则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ISO 26262 功能安全适配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AI辅助修复建议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检测到NVR违规后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自动生成修复代码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0F0F0"/>
                </a:solidFill>
                <a:latin typeface="FangSong"/>
              </a:defRPr>
            </a:pPr>
            <a:r>
              <a:t>• 开源生态建设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社区贡献验证案例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行业白皮书联合发布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第八章：QA 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Chapter 8: Frequently Asked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FFD700"/>
                </a:solidFill>
                <a:latin typeface="FangSong"/>
              </a:defRPr>
            </a:pPr>
            <a:r>
              <a:t>Q1: MMS是什么？为什么我项目没有？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MMS=制造解法，是系统验证PDE离散精度的标准方法。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没有MMS → 数值实现的正确性无法保证。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即使项目没有MMS，也可通过本评估发现问题。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FFD700"/>
                </a:solidFill>
                <a:latin typeface="FangSong"/>
              </a:defRPr>
            </a:pPr>
            <a:r>
              <a:t>Q2: 为什么我的项目评分低？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查看6维评分找出最低维度：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• MMS=0 → 缺乏系统性验证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• 稳定性&lt;50 → CFL控制缺失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6B6B"/>
                </a:solidFill>
                <a:latin typeface="FangSong"/>
              </a:defRPr>
            </a:pPr>
            <a:r>
              <a:t>• 回归&lt;50 → 关键模块无测试保护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每项改进建议都在验证报告中列出。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FFD700"/>
                </a:solidFill>
                <a:latin typeface="FangSong"/>
              </a:defRPr>
            </a:pPr>
            <a:r>
              <a:t>Q3: 误报如何处理？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低置信度规则的告警 → 由人工复核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• 高置信度规则的告警 → 强制处理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已知误报已修复：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- richardson人名匹配 → richardson_extrap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- refinement中的fine子串 → +_x0008_词边界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FFD700"/>
                </a:solidFill>
                <a:latin typeface="FangSong"/>
              </a:defRPr>
            </a:pPr>
            <a:r>
              <a:t>Q4: 如何提升评分？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• P0：引入MMS验证（+20分）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• P1：配置CFL控制参数（+10-30分）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P2：补充回归测试 + 精度断言（+15分）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P3：引入动态精度分析工具（+25分）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FFD700"/>
                </a:solidFill>
                <a:latin typeface="FangSong"/>
              </a:defRPr>
            </a:pPr>
            <a:r>
              <a:t>Q5: 如何集成到开发流程？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0F0F0"/>
                </a:solidFill>
                <a:latin typeface="FangSong"/>
              </a:defRPr>
            </a:pPr>
            <a:r>
              <a:t>在CI中加入评估步骤，评分下降则告警。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每个Release生成一次基线报告。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Summary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rPr a:altLang="zh-CN"/>
              <a:t>arch-quality · 数值算法精度评估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4ECB71"/>
                </a:solidFill>
                <a:latin typeface="FangSong"/>
              </a:defRPr>
            </a:pPr>
            <a:r>
              <a:t>核心成绩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定义6维评估模型 + 12条NVR规则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完成10个开源数值项目验证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4个项目并列96.0分（MOOSE/deal.II/FreeFEM/MFEM）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修复richardson/_x0008_词边界等误报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指南1.7 ↔ Skill 1.5 ↔ 代码三方一致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✅ CI就绪：JSON输出 + 退出码 + 报告存档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D4FF"/>
                </a:solidFill>
                <a:latin typeface="FangSong"/>
              </a:defRPr>
            </a:pPr>
            <a:r>
              <a:t>开放协作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项目地址：github.com/DevG1000/arch-quality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0F0F0"/>
                </a:solidFill>
                <a:latin typeface="FangSong"/>
              </a:defRPr>
            </a:pPr>
            <a:r>
              <a:t>欢迎贡献：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提交新的数值项目验证案例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补充缺失的NVR规则检测模式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完善多语言支持（Rust/Julia/Fortran）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• 共建行业基准数据库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4FF"/>
                </a:solidFill>
                <a:latin typeface="FangSong"/>
              </a:defRPr>
            </a:pPr>
            <a:r>
              <a:t>联系方式：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AAAAAA"/>
                </a:solidFill>
                <a:latin typeface="FangSong"/>
              </a:defRPr>
            </a:pPr>
            <a:r>
              <a:t>GitHub Issues / Discussions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560320"/>
            <a:ext cx="12188952" cy="1828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谢谢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1A1A2E"/>
                </a:solidFill>
                <a:latin typeface="Microsoft YaHei"/>
              </a:defRPr>
            </a:pPr>
            <a:r>
              <a:rPr a:altLang="zh-CN"/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AAAAAA"/>
                </a:solidFill>
                <a:latin typeface="FangSong"/>
              </a:defRPr>
            </a:pPr>
            <a:r>
              <a:rPr a:altLang="zh-CN"/>
              <a:t>arch-quality · 数值算法正确性与精度保障评估 · v1.7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
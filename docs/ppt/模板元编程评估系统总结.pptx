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模板元编程与编译时依赖膨胀评估系统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从 0 到 100% 验证覆盖 — 技术总结报告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2026-06-23  |  arch-quality 团队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目 录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371600"/>
            <a:ext cx="457200" cy="457200"/>
          </a:xfrm>
          <a:prstGeom prst="ellipse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3E50"/>
                </a:solidFill>
                <a:latin typeface="Microsoft YaHei"/>
              </a:defRPr>
            </a:pPr>
            <a:r>
              <a:t>1. 项目背景与意义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148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3E50"/>
                </a:solidFill>
                <a:latin typeface="Microsoft YaHei"/>
              </a:defRPr>
            </a:pPr>
            <a:r>
              <a:t>2. 系统架构与核心能力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926080"/>
            <a:ext cx="457200" cy="457200"/>
          </a:xfrm>
          <a:prstGeom prst="ellipse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3E50"/>
                </a:solidFill>
                <a:latin typeface="Microsoft YaHei"/>
              </a:defRPr>
            </a:pPr>
            <a:r>
              <a:t>3. 关键技术攻关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703320"/>
            <a:ext cx="457200" cy="457200"/>
          </a:xfrm>
          <a:prstGeom prst="ellipse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703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3E50"/>
                </a:solidFill>
                <a:latin typeface="Microsoft YaHei"/>
              </a:defRPr>
            </a:pPr>
            <a:r>
              <a:t>4. 验证成果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480560"/>
            <a:ext cx="457200" cy="457200"/>
          </a:xfrm>
          <a:prstGeom prst="ellipse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480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3E50"/>
                </a:solidFill>
                <a:latin typeface="Microsoft YaHei"/>
              </a:defRPr>
            </a:pPr>
            <a:r>
              <a:t>5. 现场演示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5257800"/>
            <a:ext cx="457200" cy="457200"/>
          </a:xfrm>
          <a:prstGeom prst="ellipse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5257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3E50"/>
                </a:solidFill>
                <a:latin typeface="Microsoft YaHei"/>
              </a:defRPr>
            </a:pPr>
            <a:r>
              <a:t>6. 业务价值与总结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1. 项目背景与意义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392B"/>
                </a:solidFill>
                <a:latin typeface="Microsoft YaHei"/>
              </a:defRPr>
            </a:pPr>
            <a:r>
              <a:t>◼  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C++ 模板元编程是"隐形架构债务"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762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不恰当的模板使用导致：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2374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• 编译时间暴涨 — 模板实例化在多编译单元间重复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7121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• 二进制膨胀 — 相同模板在不同 .o 中重复生成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186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• 头文件传染 — 修改模板头文件引发连锁编译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914400" y="39136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行业痛点：Google、LLVM、Facebook、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6110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Boost 等头部 C++ 项目均面临模板膨胀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0857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问题，但缺乏系统化度量工具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5486400" cy="502920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Microsoft YaHei"/>
              </a:defRPr>
            </a:pPr>
            <a:r>
              <a:t>◼  我们的方案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首个针对 C++ 模板元编程的自动化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1762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架构质量评估系统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52374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675120" y="287121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• 6 维评分模型 — 全面量化评估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2186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• 12 条 MLR 规则 — 覆盖常见反模式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• 3 种豁免注解 — 灵活管理例外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9136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• 基线校准 — 项目自适应阈值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26110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675120" y="460857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验证成果：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9560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14 个开源项目，18 万行级规模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  100% 验证覆盖（18/18 用例）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工程应用场景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560320" cy="4572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CI 门禁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每次提交自动检测模板膨胀</a:t>
            </a:r>
            <a:br/>
            <a:r>
              <a:t>防止退化，实时告警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371600"/>
            <a:ext cx="2560320" cy="4572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1645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架构评审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246888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量化评估模板设计质量</a:t>
            </a:r>
            <a:br/>
            <a:r>
              <a:t>辅助代码审查，数据驱动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2560320" cy="4572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45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技术债管理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追踪债务消长趋势</a:t>
            </a:r>
            <a:br/>
            <a:r>
              <a:t>系统化改进跟踪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371600"/>
            <a:ext cx="2560320" cy="45720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645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版本对比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46888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评估重构前后模板质量变化</a:t>
            </a:r>
            <a:br/>
            <a:r>
              <a:t>量化改进效果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2. 系统架构与核心能力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C6E"/>
                </a:solidFill>
                <a:latin typeface="Microsoft YaHei"/>
              </a:defRPr>
            </a:pPr>
            <a:r>
              <a:t>6 维评分模型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▸ 编译时扇入          — 头文件被多少个编译单元包含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▸ 模板实例化重复率    — 同一模板在多少 .cc 中实例化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▸ 头文件影响半径      — 修改头文件影响多少文件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77639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▸ 模板嵌套深度        — 递归模板或深层嵌套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▸ 二进制膨胀率        — 模板代码占总代码比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492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▸ 不必要的模板化      — 镀金模板（可用普通函数替代）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486400" cy="32004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C6E"/>
                </a:solidFill>
                <a:latin typeface="Microsoft YaHei"/>
              </a:defRPr>
            </a:pPr>
            <a:r>
              <a:t>12 条 MLR 规则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MLR-013 热模板头文件</a:t>
            </a:r>
            <a:br/>
            <a:r>
              <a:t>MLR-014 模板重复实例化</a:t>
            </a:r>
            <a:br/>
            <a:r>
              <a:t>MLR-015 头文件传染链过长</a:t>
            </a:r>
            <a:br/>
            <a:r>
              <a:t>MLR-016 模板嵌套深度过高</a:t>
            </a:r>
            <a:br/>
            <a:r>
              <a:t>MLR-017 二进制膨胀超标</a:t>
            </a:r>
            <a:br/>
            <a:r>
              <a:t>MLR-018 虚泛型（镀金模板）</a:t>
            </a:r>
            <a:br/>
            <a:r>
              <a:t>MLR-019 未使用 extern template</a:t>
            </a:r>
            <a:br/>
            <a:r>
              <a:t>MLR-020 头文件含不必要模板定义</a:t>
            </a:r>
            <a:br/>
            <a:r>
              <a:t>MLR-021 模板特化在错误命名空间</a:t>
            </a:r>
            <a:br/>
            <a:r>
              <a:t>MLR-022 递归模板导致实例化爆炸</a:t>
            </a:r>
            <a:br/>
            <a:r>
              <a:t>MLR-023 多次重复实例化(合并)</a:t>
            </a:r>
            <a:br/>
            <a:r>
              <a:t>MLR-024 头文件包含循环依赖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572000"/>
            <a:ext cx="5486400" cy="164592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Microsoft YaHei"/>
              </a:defRPr>
            </a:pPr>
            <a:r>
              <a:t>4.0 新增特性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1206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output_level 输出级别体系  |  豁免注解验证机制  |  基线校准统计方法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3. 关键技术攻关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0698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011680"/>
                <a:gridCol w="1097280"/>
                <a:gridCol w="3840480"/>
                <a:gridCol w="3200400"/>
              </a:tblGrid>
              <a:tr h="718457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问题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难度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方案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效果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递归模板漏报</a:t>
                      </a:r>
                    </a:p>
                    <a:p>
                      <a:r>
                        <a:t>(MLR-022)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🔴 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正则从 template&lt;...&gt;</a:t>
                      </a:r>
                    </a:p>
                    <a:p>
                      <a:r>
                        <a:t>改为 (?!\w)+注释过滤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Boost.MPL 99处真阳性</a:t>
                      </a:r>
                    </a:p>
                    <a:p>
                      <a:r>
                        <a:t>假阳性 5→0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大量假阳性</a:t>
                      </a:r>
                    </a:p>
                    <a:p>
                      <a:r>
                        <a:t>(MLR-014)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🔴 高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三重过滤：</a:t>
                      </a:r>
                    </a:p>
                    <a:p>
                      <a:r>
                        <a:t>上下文+参数+per-template extern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deal.II 3043→1320</a:t>
                      </a:r>
                    </a:p>
                    <a:p>
                      <a:r>
                        <a:t>(↓57%)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LLVM 178K 文件</a:t>
                      </a:r>
                    </a:p>
                    <a:p>
                      <a:r>
                        <a:t>评估超时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🔴 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rglob→os.walk</a:t>
                      </a:r>
                    </a:p>
                    <a:p>
                      <a:r>
                        <a:t>O(n²)→O(1)哈希表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&gt;30min→240s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deal.II 24K 文件</a:t>
                      </a:r>
                    </a:p>
                    <a:p>
                      <a:r>
                        <a:t>重复读盘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🟡 中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_read_cached统一缓存</a:t>
                      </a:r>
                    </a:p>
                    <a:p>
                      <a:r>
                        <a:t>邻接表 BFS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&gt;30min→5.5min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权重解析混入</a:t>
                      </a:r>
                    </a:p>
                    <a:p>
                      <a:r>
                        <a:t>校准表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🟢 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限定入解析段落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修复175%权重和bug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报告参数互斥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🟢 低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output_json逻辑修正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修复 --json --md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豁免注解体系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566160" cy="32004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@template_specialization_required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适用规则: MLR-014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多精度/多维度模板特化豁免</a:t>
            </a:r>
            <a:br/>
            <a:r>
              <a:t>含: template&lt;typename T&gt; class Vec { ... }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188720"/>
            <a:ext cx="3566160" cy="3200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@allow_binary_bloat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适用规则: MLR-017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19456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性能优化导致的模板膨胀豁免</a:t>
            </a:r>
            <a:br/>
            <a:r>
              <a:t>4 字段必填: performance_gain / compile_time_increase</a:t>
            </a:r>
            <a:br/>
            <a:r>
              <a:t>benchmark_script / threshold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188720"/>
            <a:ext cx="3566160" cy="3200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@reserved_for_future_extension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适用规则: MLR-018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19456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预留将来扩展的模板豁免</a:t>
            </a:r>
            <a:br/>
            <a:r>
              <a:t>含: template&lt;typename T&gt; T clamp(T val, ...)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754880"/>
            <a:ext cx="11247120" cy="1371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跨规则协调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03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MLR-014 + MLR-017 同时豁免时，在 MLR-017 告警中追加提示：</a:t>
            </a:r>
            <a:br/>
            <a:r>
              <a:t>"[跨规则协调] MLR-014豁免已通过，但MLR-017仍需性能数据验证"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4. 验证成果 — 覆盖全景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743200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验证覆盖率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188720"/>
            <a:ext cx="1828800" cy="1371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234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18/18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测试用例</a:t>
            </a:r>
            <a:br/>
            <a:r>
              <a:t>全部通过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1188720"/>
            <a:ext cx="1828800" cy="1371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1234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14 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开源项目</a:t>
            </a:r>
            <a:br/>
            <a:r>
              <a:t>实测验证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1188720"/>
            <a:ext cx="1828800" cy="1371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1234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12/12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MLR 规则</a:t>
            </a:r>
            <a:br/>
            <a:r>
              <a:t>全部覆盖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66959" y="1188720"/>
            <a:ext cx="1828800" cy="1371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59" y="1234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11 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59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回归快照</a:t>
            </a:r>
            <a:br/>
            <a:r>
              <a:t>自动退检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34640"/>
            <a:ext cx="5303520" cy="32004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按类型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31520" y="3383280"/>
          <a:ext cx="4572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914400"/>
                <a:gridCol w="914400"/>
              </a:tblGrid>
              <a:tr h="51206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总数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已验证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覆盖率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阳性案例</a:t>
                      </a:r>
                    </a:p>
                    <a:p>
                      <a:r>
                        <a:t>（应触发）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阴性案例</a:t>
                      </a:r>
                    </a:p>
                    <a:p>
                      <a:r>
                        <a:t>（不应触发）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豁免案例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6217920" y="2834640"/>
            <a:ext cx="5486400" cy="32004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按项目规模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492240" y="3383280"/>
          <a:ext cx="4572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2286000"/>
              </a:tblGrid>
              <a:tr h="51206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规模范围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项目数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代表项目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超大 (&gt;50K 文件)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LLVM(178K), OpenFOAM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大 (10K-50K)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deal.II(24K), BRL-CAD, FreeCAD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中 (1K-10K)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MOOSE(6K), Folly, Abseil, Range-v3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小 (&lt;1K)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Eigen, Boost.MPL/GIL/Hana, Gmsh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验证亮点 — 关键项目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10972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LLVM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280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规模: 178K 文件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核心指标: 0 头文件传染 &gt;80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✓ 模块化架构验证通过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14600"/>
            <a:ext cx="1124712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MOOSE 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规模: 6K 文件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063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核心指标: 嵌套深度 14（预期 15）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788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✓ 与验证库高度吻合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40480"/>
            <a:ext cx="11247120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Boost.MPL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规模: 1.2K 文件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核心指标: MLR-022 递归模板修复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114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✓ 99 处真阳性，零假阳性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166359"/>
            <a:ext cx="11247120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25779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deal.II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525779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规模: 24K 文件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71499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核心指标: MLR-014 ↓57%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544067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✓ 5.5min 全流程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性能优化对比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371600"/>
          <a:ext cx="9601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2286000"/>
                <a:gridCol w="1828800"/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场景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优化前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优化后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提升倍数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LLVM FileIndex (178K 文件)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&gt;5min 超时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11.7s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25x+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LLVM Include 图 (56K 节点)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&gt;30min 超时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52s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35x+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deal.II 全流程 (24K 文件)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&gt;30min 超时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5.5min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5x+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单元测试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36 个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43 个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+7 个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371600" y="5303520"/>
            <a:ext cx="9601200" cy="109728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53949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7AE60"/>
                </a:solidFill>
                <a:latin typeface="Microsoft YaHei"/>
              </a:defRPr>
            </a:pPr>
            <a:r>
              <a:t>关键优化: O(n²)→O(1) 哈希查找  |  内容缓存避免重复读盘  |  os.walk 替代 rglob  |  惰性 lines 计数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现存挑战与路线图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392B"/>
                </a:solidFill>
                <a:latin typeface="Microsoft YaHei"/>
              </a:defRPr>
            </a:pPr>
            <a:r>
              <a:t>现存挑战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1. MLR-014 对合法的维度变体（dim=1,2,3）</a:t>
            </a:r>
            <a:br/>
            <a:r>
              <a:t>    仍无法区分设计冗余与必要维度覆盖</a:t>
            </a:r>
            <a:br/>
            <a:r>
              <a:t>    → deal.II 仍有 1320 条剩余假阳性</a:t>
            </a:r>
            <a:br/>
            <a:br/>
            <a:r>
              <a:t>2. MLR-020 每个文件独立报告</a:t>
            </a:r>
            <a:br/>
            <a:r>
              <a:t>    → 46 条违规逐个列出，信噪比低</a:t>
            </a:r>
            <a:br/>
            <a:br/>
            <a:r>
              <a:t>3. MLR-012 F77 项目 975 条 INFO</a:t>
            </a:r>
            <a:br/>
            <a:r>
              <a:t>    → 项目级聚合可大幅精简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486400" cy="50292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C6E"/>
                </a:solidFill>
                <a:latin typeface="Microsoft YaHei"/>
              </a:defRPr>
            </a:pPr>
            <a:r>
              <a:t>路线图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920240"/>
            <a:ext cx="1371600" cy="1188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118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近期</a:t>
            </a:r>
            <a:br/>
            <a:r>
              <a:t>（Q3）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920240"/>
            <a:ext cx="33832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1031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MLR-014 语义分析</a:t>
            </a:r>
            <a:br/>
            <a:r>
              <a:t>区分设计冗余与必要维度覆盖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383280"/>
            <a:ext cx="1371600" cy="1188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566160"/>
            <a:ext cx="118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中期</a:t>
            </a:r>
            <a:br/>
            <a:r>
              <a:t>（Q4）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3383280"/>
            <a:ext cx="33832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35661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MLR-020 聚合报告</a:t>
            </a:r>
            <a:br/>
            <a:r>
              <a:t>MLR-012 自动降噪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4846320"/>
            <a:ext cx="1371600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5029200"/>
            <a:ext cx="118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远期</a:t>
            </a:r>
            <a:br/>
            <a:r>
              <a:t>（2027）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4846320"/>
            <a:ext cx="33832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50292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AI 辅助豁免判断</a:t>
            </a:r>
            <a:br/>
            <a:r>
              <a:t>IDE 插件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5. 现场演示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预计 5 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▸ 步骤 1: 运行 arch_report 生成项目架构质量评估报告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▸ 步骤 2: 展示 6 维评分 + MLR 违规列表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75487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▸ 步骤 3: 添加 @allow_binary_bloat 豁免注解 — 展示 output_level 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39495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▸ 步骤 4: 运行 pytest — 43 个测试全部通过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035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▸ 步骤 5: 打开 Obsidian 知识库 — 卡片图谱展示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6. 业务价值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10972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C6E"/>
                </a:solidFill>
                <a:latin typeface="Microsoft YaHei"/>
              </a:defRPr>
            </a:pPr>
            <a:r>
              <a:t>🎯 研发效率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3258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提前发现模板膨胀，避免编译时间失控</a:t>
            </a:r>
            <a:br/>
            <a:r>
              <a:t>LLVM 级别项目也能在 4 分钟内完成评估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14600"/>
            <a:ext cx="11247120" cy="10972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C6E"/>
                </a:solidFill>
                <a:latin typeface="Microsoft YaHei"/>
              </a:defRPr>
            </a:pPr>
            <a:r>
              <a:t>📊 代码质量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65176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量化评估模板设计，建立团队共识</a:t>
            </a:r>
            <a:br/>
            <a:r>
              <a:t>12 条 MLR 规则覆盖全部常见模板反模式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40480"/>
            <a:ext cx="11247120" cy="10972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C6E"/>
                </a:solidFill>
                <a:latin typeface="Microsoft YaHei"/>
              </a:defRPr>
            </a:pPr>
            <a:r>
              <a:t>📈 技术债管理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97764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追踪债务消长趋势，数据驱动决策</a:t>
            </a:r>
            <a:br/>
            <a:r>
              <a:t>回归快照系统自动检测退化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166359"/>
            <a:ext cx="11247120" cy="10972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25779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C6E"/>
                </a:solidFill>
                <a:latin typeface="Microsoft YaHei"/>
              </a:defRPr>
            </a:pPr>
            <a:r>
              <a:t>🔄 CI 集成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5303519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自动化门禁，防止模板膨胀退化</a:t>
            </a:r>
            <a:br/>
            <a:r>
              <a:t>豁免注解机制灵活管理例外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✅ 验证覆盖 100% — 18/18 测试用例全部通过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1089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✅ 14 个真实项目验证 — 从 140 文件到 178K 文件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931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✅ 6 项关键技术攻关 — 从超时到秒级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754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✅ 4 大应用场景 — CI / 评审 / 债务 / 版本对比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5778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✅ 现场演示 — 5 分钟完整流程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86DE"/>
                </a:solidFill>
                <a:latin typeface="Microsoft YaHei"/>
              </a:defRPr>
            </a:pPr>
            <a:r>
              <a:t>模板元编程评估系统 v4.1 已就绪，可投入生产使用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
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1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MMS 测试：工业 CFD 软件验证的
方法论与实践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DDFF"/>
                </a:solidFill>
                <a:latin typeface="微软雅黑" panose="020B0503020204020204" charset="-122"/>
              </a:rPr>
              <a:t>Manufactured Solutions — PDE 求解器的“单元测试”</a:t>
            </a:r>
            <a:endParaRPr sz="1800" b="0">
              <a:solidFill>
                <a:srgbClr val="BBDD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0" y="4114800"/>
            <a:ext cx="301752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微软雅黑" panose="020B0503020204020204" charset="-122"/>
              </a:rPr>
              <a:t>arch-quality team  |  2026-07</a:t>
            </a:r>
            <a:endParaRPr sz="13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2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目录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0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12070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微软雅黑" panose="020B0503020204020204" charset="-122"/>
              </a:rPr>
              <a:t>概念介绍</a:t>
            </a:r>
            <a:endParaRPr sz="18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PDE 求解器 -&gt; 收敛阶 -&gt; 阈值依据 -&gt; V&amp;V 区分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3040" y="20299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微软雅黑" panose="020B0503020204020204" charset="-122"/>
              </a:rPr>
              <a:t>为什么需要 MMS？</a:t>
            </a:r>
            <a:endParaRPr sz="18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3040" y="2304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传统方法的局限 -&gt; MMS 的诞生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2852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微软雅黑" panose="020B0503020204020204" charset="-122"/>
              </a:rPr>
              <a:t>MMS 的数学原理</a:t>
            </a:r>
            <a:endParaRPr sz="18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3040" y="31272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逆向构造 -&gt; 五步法 -&gt; 收敛阶判定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63040" y="36758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微软雅黑" panose="020B0503020204020204" charset="-122"/>
              </a:rPr>
              <a:t>MMS 的工程价值</a:t>
            </a:r>
            <a:endParaRPr sz="18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63040" y="39502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能发现什么 Bug -&gt; 工业标准 -&gt; 应用价值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31520" y="448056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63040" y="4498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微软雅黑" panose="020B0503020204020204" charset="-122"/>
              </a:rPr>
              <a:t>OpenFOAM 实战案例</a:t>
            </a:r>
            <a:endParaRPr sz="18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63040" y="47731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决策树 -&gt; 四个坑 -&gt; 实测结果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31520" y="53035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63040" y="5321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微软雅黑" panose="020B0503020204020204" charset="-122"/>
              </a:rPr>
              <a:t>最佳实践</a:t>
            </a:r>
            <a:endParaRPr sz="18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63040" y="55961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排查策略 -&gt; CI/CD 集成 -&gt; 实施路线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31520" y="612648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63040" y="61447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微软雅黑" panose="020B0503020204020204" charset="-122"/>
              </a:rPr>
              <a:t>总结</a:t>
            </a:r>
            <a:endParaRPr sz="18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63040" y="64190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三条核心信息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3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什么是 PDE 求解器？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5C"/>
                </a:solidFill>
                <a:latin typeface="微软雅黑" panose="020B0503020204020204" charset="-122"/>
              </a:rPr>
              <a:t>PDE（偏微分方程）描述物理规律：传热、流动、结构变形……</a:t>
            </a:r>
            <a:endParaRPr sz="1700" b="1">
              <a:solidFill>
                <a:srgbClr val="1B3A5C"/>
              </a:solidFill>
              <a:latin typeface="微软雅黑" panose="020B0503020204020204" charset="-122"/>
            </a:endParaRP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→  求解器将连续 PDE 离散化为代数方程组 Ax = b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→  离散化引入离散误差（truncation error）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→  求解器的本质问题：离散误差有多大，是否可控？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A5C"/>
                </a:solidFill>
                <a:latin typeface="微软雅黑" panose="020B0503020204020204" charset="-122"/>
              </a:rPr>
              <a:t>⚠️  核心：控制离散误差在可接受范围</a:t>
            </a:r>
            <a:endParaRPr sz="2000" b="1">
              <a:solidFill>
                <a:srgbClr val="1B3A5C"/>
              </a:solidFill>
              <a:latin typeface="微软雅黑" panose="020B0503020204020204" charset="-122"/>
            </a:endParaRP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</a:rPr>
              <a:t>MMS 就是用来验证“离散误差是否真的可控”的系统方法</a:t>
            </a:r>
            <a:endParaRPr sz="14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4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收敛阶：理论阶 vs 观察阶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029200" cy="2560320"/>
          </a:xfrm>
          <a:prstGeom prst="rect">
            <a:avLst/>
          </a:prstGeom>
          <a:solidFill>
            <a:srgbClr val="F2F2F2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微软雅黑" panose="020B0503020204020204" charset="-122"/>
              </a:rPr>
              <a:t>理论阶（p_theory）</a:t>
            </a:r>
            <a:endParaRPr sz="18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66344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300" b="0">
                <a:solidFill>
                  <a:srgbClr val="333333"/>
                </a:solidFill>
                <a:latin typeface="Consolas" panose="020B0609020204030204"/>
              </a:rPr>
              <a:t>离散</a:t>
            </a:r>
            <a:r>
              <a:rPr sz="1300" b="0">
                <a:solidFill>
                  <a:srgbClr val="333333"/>
                </a:solidFill>
                <a:latin typeface="Consolas" panose="020B0609020204030204"/>
              </a:rPr>
              <a:t>格式的设计精度，由截断误差分析决定
中心差分 → 2
一阶迎风 → 1
线性插值 → 2</a:t>
            </a:r>
            <a:endParaRPr sz="13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669280" cy="256032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  <a:latin typeface="微软雅黑" panose="020B0503020204020204" charset="-122"/>
              </a:rPr>
              <a:t>观察阶（p_obs）</a:t>
            </a:r>
            <a:endParaRPr sz="18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 panose="020B0609020204030204"/>
              </a:rPr>
              <a:t>数值结果上的实测收敛速率
p_obs = log(E2/E1) / log(h2/h1)
包含了所有实现细节的影响</a:t>
            </a:r>
            <a:endParaRPr sz="13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5303520" cy="91440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7AE60"/>
                </a:solidFill>
                <a:latin typeface="微软雅黑" panose="020B0503020204020204" charset="-122"/>
              </a:rPr>
              <a:t>✅  p_obs = p_theory  →  离散实现正确</a:t>
            </a:r>
            <a:endParaRPr sz="17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0" y="4114800"/>
            <a:ext cx="5303520" cy="914400"/>
          </a:xfrm>
          <a:prstGeom prst="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74C3C"/>
                </a:solidFill>
                <a:latin typeface="微软雅黑" panose="020B0503020204020204" charset="-122"/>
              </a:rPr>
              <a:t>❌  p_obs ≠ p_theory  →  代码存在 Bug</a:t>
            </a:r>
            <a:endParaRPr sz="1700" b="1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3A5C"/>
                </a:solidFill>
                <a:latin typeface="微软雅黑" panose="020B0503020204020204" charset="-122"/>
              </a:rPr>
              <a:t>📊  实测：理论阶 = 2，p_obs = 2.001  →  验证通过</a:t>
            </a:r>
            <a:endParaRPr sz="1500" b="0">
              <a:solidFill>
                <a:srgbClr val="1B3A5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5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偏差阈值的工程依据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4747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347472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070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高阶项污染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SAND2000-1444
Roy, JCP 2005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74C3C"/>
                </a:solidFill>
                <a:latin typeface="微软雅黑" panose="020B0503020204020204" charset="-122"/>
              </a:rPr>
              <a:t>偏差范围：±0.01</a:t>
            </a:r>
            <a:endParaRPr sz="1400" b="1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 panose="020B0609020204030204"/>
              </a:rPr>
              <a:t>E = C₁h² + C₂h⁴ + O(h⁶)
p_obs = 2 + O(h²)</a:t>
            </a:r>
            <a:endParaRPr sz="11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74C3C"/>
                </a:solidFill>
                <a:latin typeface="微软雅黑" panose="020B0503020204020204" charset="-122"/>
              </a:rPr>
              <a:t>超过 0.01 = 代码有 Bug</a:t>
            </a:r>
            <a:endParaRPr sz="1200" b="1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0" y="1188720"/>
            <a:ext cx="34747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188720"/>
            <a:ext cx="347472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2070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网格畸变误差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6280" y="182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Diskin &amp; Thomas
AIAA 2011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262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39C12"/>
                </a:solidFill>
                <a:latin typeface="微软雅黑" panose="020B0503020204020204" charset="-122"/>
              </a:rPr>
              <a:t>偏差范围：±0.05~0.15</a:t>
            </a:r>
            <a:endParaRPr sz="14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6280" y="2926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 panose="020B0609020204030204"/>
              </a:rPr>
              <a:t>E = C₁h² + D₁·skew·h²
畸变因子放大常数 D₁</a:t>
            </a:r>
            <a:endParaRPr sz="11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2628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39C12"/>
                </a:solidFill>
                <a:latin typeface="微软雅黑" panose="020B0503020204020204" charset="-122"/>
              </a:rPr>
              <a:t>网格质量决定下限</a:t>
            </a:r>
            <a:endParaRPr sz="12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29600" y="1188720"/>
            <a:ext cx="34747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188720"/>
            <a:ext cx="3474720" cy="54864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2070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非结构统计波动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66760" y="182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Venkatakrishnan
AIAA 1995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6676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  <a:latin typeface="微软雅黑" panose="020B0503020204020204" charset="-122"/>
              </a:rPr>
              <a:t>偏差范围：±0.2~0.3</a:t>
            </a:r>
            <a:endParaRPr sz="1400" b="1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66760" y="2926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onsolas" panose="020B0609020204030204"/>
              </a:rPr>
              <a:t>非结构二阶为近似二阶
p_obs ∼ 1.6~1.8</a:t>
            </a:r>
            <a:endParaRPr sz="11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6676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微软雅黑" panose="020B0503020204020204" charset="-122"/>
              </a:rPr>
              <a:t>物理限制，非代码问题</a:t>
            </a:r>
            <a:endParaRPr sz="1200" b="1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📖  SAND2000-1444  |  Diskin &amp; Thomas  |  Venkatakrishnan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6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验证 vs 确认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029200" cy="320040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AE60"/>
                </a:solidFill>
                <a:latin typeface="微软雅黑" panose="020B0503020204020204" charset="-122"/>
              </a:rPr>
              <a:t>✅  验证（Verification）</a:t>
            </a:r>
            <a:endParaRPr sz="22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微软雅黑" panose="020B0503020204020204" charset="-122"/>
              </a:rPr>
              <a:t>Are we solving the equations right?
判断代码是否正确实现了数学模型
MMS 负责验证</a:t>
            </a:r>
            <a:endParaRPr sz="14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669280" cy="3200400"/>
          </a:xfrm>
          <a:prstGeom prst="rect">
            <a:avLst/>
          </a:prstGeom>
          <a:solidFill>
            <a:srgbClr val="D6EBF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86C1"/>
                </a:solidFill>
                <a:latin typeface="微软雅黑" panose="020B0503020204020204" charset="-122"/>
              </a:rPr>
              <a:t>📋  确认（Validation）</a:t>
            </a:r>
            <a:endParaRPr sz="2200" b="1">
              <a:solidFill>
                <a:srgbClr val="2E86C1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微软雅黑" panose="020B0503020204020204" charset="-122"/>
              </a:rPr>
              <a:t>Are we solving the right equations?
判断模型是否准确描述了真实世界
实验 / 基准测试负责确认</a:t>
            </a:r>
            <a:endParaRPr sz="14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0" y="2560320"/>
            <a:ext cx="548640" cy="381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solidFill>
            <a:srgbClr val="FEF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微软雅黑" panose="020B0503020204020204" charset="-122"/>
              </a:rPr>
              <a:t>⚠️  ASME V&amp;V 20-2009 的根本性区分。混淆这两个概念是工业软件验证中最常见的认知错误。</a:t>
            </a:r>
            <a:endParaRPr sz="1400" b="1">
              <a:solidFill>
                <a:srgbClr val="F39C12"/>
              </a:solidFill>
              <a:latin typeface="微软雅黑" panose="020B0503020204020204" charset="-122"/>
            </a:endParaRP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本材料通篇讨论的是验证（Verification）。MMS 是验证的工具，不是确认的工具。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7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为什么需要系统验证？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868680"/>
          </a:xfrm>
          <a:prstGeom prst="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37160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6666"/>
                </a:solidFill>
                <a:latin typeface="微软雅黑" panose="020B0503020204020204" charset="-122"/>
              </a:rPr>
              <a:t>手动推导截断误差</a:t>
            </a:r>
            <a:endParaRPr sz="1600" b="1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89120" y="1280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只能验证简单格式，无法覆盖代码实现细节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0" y="2057400"/>
            <a:ext cx="25400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10515600" cy="868680"/>
          </a:xfrm>
          <a:prstGeom prst="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46888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5448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6666"/>
                </a:solidFill>
                <a:latin typeface="微软雅黑" panose="020B0503020204020204" charset="-122"/>
              </a:rPr>
              <a:t>单元测试</a:t>
            </a:r>
            <a:endParaRPr sz="1600" b="1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0" y="2377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无法验证 PDE 离散化的整体正确性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0" y="3154680"/>
            <a:ext cx="25400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10515600" cy="868680"/>
          </a:xfrm>
          <a:prstGeom prst="rect">
            <a:avLst/>
          </a:prstGeom>
          <a:solidFill>
            <a:srgbClr val="F2F2F2"/>
          </a:solidFill>
          <a:ln w="190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5448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66666"/>
                </a:solidFill>
                <a:latin typeface="微软雅黑" panose="020B0503020204020204" charset="-122"/>
              </a:rPr>
              <a:t>基准测试</a:t>
            </a:r>
            <a:endParaRPr sz="1600" b="1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3474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通过基准 ≠ 代码正确；基准覆盖范围有限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0" y="4251960"/>
            <a:ext cx="25400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480559"/>
            <a:ext cx="10515600" cy="86868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663439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54480" y="45719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微软雅黑" panose="020B0503020204020204" charset="-122"/>
              </a:rPr>
              <a:t>MMS</a:t>
            </a:r>
            <a:endParaRPr sz="16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89120" y="4571999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系统验证 PDE 离散化正确性的唯一方法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 panose="020B0503020204020204" charset="-122"/>
              </a:rPr>
              <a:t>MMS 填补了传统方法无法系统验证 PDE 离散化实现正确性的空白。</a:t>
            </a:r>
            <a:endParaRPr sz="13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8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核心问题：代码的实现有没有 Bug？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微软雅黑" panose="020B0503020204020204" charset="-122"/>
              </a:rPr>
              <a:t>写了一个 CFD/CAE 求解器 — 怎么证明代码的实现没有 Bug？</a:t>
            </a:r>
            <a:endParaRPr sz="1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 panose="020B0503020204020204" charset="-122"/>
              </a:rPr>
              <a:t>工业仿真软件的 Bug 可能直接导致：</a:t>
            </a:r>
            <a:endParaRPr sz="14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3383280" cy="1828800"/>
          </a:xfrm>
          <a:prstGeom prst="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74C3C"/>
                </a:solidFill>
                <a:latin typeface="微软雅黑" panose="020B0503020204020204" charset="-122"/>
              </a:rPr>
              <a:t>✈️  飞机设计</a:t>
            </a:r>
            <a:endParaRPr sz="1700" b="1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基于错误的升力系数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80559" y="2743200"/>
            <a:ext cx="3383280" cy="1828800"/>
          </a:xfrm>
          <a:prstGeom prst="rect">
            <a:avLst/>
          </a:prstGeom>
          <a:solidFill>
            <a:srgbClr val="FEF3CB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39C12"/>
                </a:solidFill>
                <a:latin typeface="微软雅黑" panose="020B0503020204020204" charset="-122"/>
              </a:rPr>
              <a:t>☢️  核反应堆冷却</a:t>
            </a:r>
            <a:endParaRPr sz="17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39" y="3474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基于错误的热通量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29599" y="2743200"/>
            <a:ext cx="3383280" cy="1828800"/>
          </a:xfrm>
          <a:prstGeom prst="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74C3C"/>
                </a:solidFill>
                <a:latin typeface="微软雅黑" panose="020B0503020204020204" charset="-122"/>
              </a:rPr>
              <a:t>🚗  汽车碰撞安全</a:t>
            </a:r>
            <a:endParaRPr sz="1700" b="1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79" y="3474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基于错误的变形数据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9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传统验证方法的阿喀琉斯之踵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方法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局限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解析解对比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只能解极简单的 PDE，无法覆盖真实复杂度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实验数据对比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误差不可控，无法区分模型误差与代码 Bug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单元测试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无法验证 PDE 离散化的整体正确性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基准测试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只测试特定场景，基准通过 ≠ 代码正确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与其他软件对比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其他软件也可能有 Bug，没有标准答案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69280"/>
            <a:ext cx="105156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基准测试的假阴性：lid-driven cavity 通过 != 实际工程问题无 Bug。这个认知陷阱在工业界极为常见。MMS（制造解法）：用于验证代码的离散误差是否按理论阶次收敛，是一种严格的数学验证</a:t>
            </a:r>
            <a:r>
              <a:rPr lang="zh-CN" sz="1200" b="0">
                <a:solidFill>
                  <a:srgbClr val="666666"/>
                </a:solidFill>
                <a:latin typeface="微软雅黑" panose="020B0503020204020204" charset="-122"/>
              </a:rPr>
              <a:t>。顶盖驱动方腔流：用于验证代码是否能正确模拟真实的物理流动特征，是一种面向物理的验证。</a:t>
            </a:r>
            <a:endParaRPr lang="zh-CN"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10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MMS 的诞生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i="1"/>
            </a:pPr>
            <a:r>
              <a:rPr sz="1600" b="0">
                <a:solidFill>
                  <a:srgbClr val="333333"/>
                </a:solidFill>
                <a:latin typeface="微软雅黑" panose="020B0503020204020204" charset="-122"/>
              </a:rPr>
              <a:t>Patrick Roache (1978): “我们不需要精确解，我们可以自己制造一个。”</a:t>
            </a:r>
            <a:endParaRPr sz="16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97280" y="1700784"/>
            <a:ext cx="201168" cy="201168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7864" y="1901952"/>
            <a:ext cx="25400" cy="594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645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微软雅黑" panose="020B0503020204020204" charset="-122"/>
              </a:rPr>
              <a:t>1978</a:t>
            </a:r>
            <a:endParaRPr sz="14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608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 panose="020B0503020204020204" charset="-122"/>
              </a:rPr>
              <a:t>Roache 系统化 MMS 框架</a:t>
            </a:r>
            <a:endParaRPr sz="1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制造解方法正式命名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97280" y="2523744"/>
            <a:ext cx="201168" cy="201168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97864" y="2724912"/>
            <a:ext cx="25400" cy="594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微软雅黑" panose="020B0503020204020204" charset="-122"/>
              </a:rPr>
              <a:t>2009</a:t>
            </a:r>
            <a:endParaRPr sz="14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2608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 panose="020B0503020204020204" charset="-122"/>
              </a:rPr>
              <a:t>ASME V&amp;V 20-2009</a:t>
            </a:r>
            <a:endParaRPr sz="1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CFD 代码验证首选方法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97280" y="3346704"/>
            <a:ext cx="201168" cy="201168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864" y="3547872"/>
            <a:ext cx="25400" cy="594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微软雅黑" panose="020B0503020204020204" charset="-122"/>
              </a:rPr>
              <a:t>2015</a:t>
            </a:r>
            <a:endParaRPr sz="14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2608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 panose="020B0503020204020204" charset="-122"/>
              </a:rPr>
              <a:t>ISO 17534-1:2015</a:t>
            </a:r>
            <a:endParaRPr sz="1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声学软件精度阶数验证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97280" y="4169664"/>
            <a:ext cx="201168" cy="201168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97864" y="4370832"/>
            <a:ext cx="25400" cy="594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114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微软雅黑" panose="020B0503020204020204" charset="-122"/>
              </a:rPr>
              <a:t>2019</a:t>
            </a:r>
            <a:endParaRPr sz="14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260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 panose="020B0503020204020204" charset="-122"/>
              </a:rPr>
              <a:t>ASME V&amp;V 10-2019</a:t>
            </a:r>
            <a:endParaRPr sz="1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固体力学推荐 MMS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097280" y="4992624"/>
            <a:ext cx="201168" cy="2011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微软雅黑" panose="020B0503020204020204" charset="-122"/>
              </a:rPr>
              <a:t>至今</a:t>
            </a:r>
            <a:endParaRPr sz="14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2608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 panose="020B0503020204020204" charset="-122"/>
              </a:rPr>
              <a:t>Sandia 国家实验室</a:t>
            </a:r>
            <a:endParaRPr sz="1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高后果仿真软件必须通过 MMS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11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核心思想：逆向构造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02920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4C3C"/>
                </a:solidFill>
                <a:latin typeface="微软雅黑" panose="020B0503020204020204" charset="-122"/>
              </a:rPr>
              <a:t>X 传统方法（正向）</a:t>
            </a:r>
            <a:endParaRPr sz="1600" b="1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已知精确解 + 简单 PDE
         -&gt;
    求解器计算
         -&gt;
    对比误差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E74C3C"/>
                </a:solidFill>
                <a:latin typeface="微软雅黑" panose="020B0503020204020204" charset="-122"/>
              </a:rPr>
              <a:t>问题：精确解极其稀有，无法验证任意 PDE</a:t>
            </a:r>
            <a:endParaRPr sz="1200" b="0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5669280" cy="22860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微软雅黑" panose="020B0503020204020204" charset="-122"/>
              </a:rPr>
              <a:t>O MMS 方法（逆向）</a:t>
            </a:r>
            <a:endParaRPr sz="16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480" y="173736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选择 u* -&gt; 推导源项 S
         -&gt;
    求解带源项 PDE
         -&gt;
    对比 u* 与 u_num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27AE60"/>
                </a:solidFill>
                <a:latin typeface="微软雅黑" panose="020B0503020204020204" charset="-122"/>
              </a:rPr>
              <a:t>关键：可以验证任意复杂的 PDE</a:t>
            </a:r>
            <a:endParaRPr sz="1200" b="0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11064240" cy="2286000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5C"/>
                </a:solidFill>
                <a:latin typeface="微软雅黑" panose="020B0503020204020204" charset="-122"/>
              </a:rPr>
              <a:t>把验证问题从“找精确解”变成“造精确解”</a:t>
            </a:r>
            <a:endParaRPr sz="1800" b="1">
              <a:solidFill>
                <a:srgbClr val="1B3A5C"/>
              </a:solidFill>
              <a:latin typeface="微软雅黑" panose="020B0503020204020204" charset="-122"/>
            </a:endParaRP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后者的约束弱得多 — 只要函数光滑且满足边界条件，任何函数都可作为制造解。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这使得 MMS 能覆盖任意复杂的 PDE 系统：NS 方程、可压缩流、多相流、流固耦合...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12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MMS 五步法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261872"/>
            <a:ext cx="384048" cy="384048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0664" y="1645920"/>
            <a:ext cx="25400" cy="594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微软雅黑" panose="020B0503020204020204" charset="-122"/>
              </a:rPr>
              <a:t>步骤 1: 选择制造解</a:t>
            </a:r>
            <a:endParaRPr sz="14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 panose="020B0609020204030204"/>
              </a:rPr>
              <a:t>u*(x,y) = sin(pi*x)*sin(pi*y)</a:t>
            </a:r>
            <a:endParaRPr sz="12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足够光滑，满足边界条件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48640" y="2267712"/>
            <a:ext cx="384048" cy="384048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0664" y="2651760"/>
            <a:ext cx="25400" cy="594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微软雅黑" panose="020B0503020204020204" charset="-122"/>
              </a:rPr>
              <a:t>步骤 2: 推导源项</a:t>
            </a:r>
            <a:endParaRPr sz="14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 panose="020B0609020204030204"/>
              </a:rPr>
              <a:t>S = 2*pi^2*sin(pi*x)*sin(pi*y)</a:t>
            </a:r>
            <a:endParaRPr sz="12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推荐 SymPy/Mathematica 辅助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8640" y="3273552"/>
            <a:ext cx="384048" cy="384048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40664" y="3657600"/>
            <a:ext cx="25400" cy="594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微软雅黑" panose="020B0503020204020204" charset="-122"/>
              </a:rPr>
              <a:t>步骤 3: 数值求解</a:t>
            </a:r>
            <a:endParaRPr sz="14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0040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 panose="020B0609020204030204"/>
              </a:rPr>
              <a:t>-div(DT*grad(T)) = S</a:t>
            </a:r>
            <a:endParaRPr sz="12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scalarCodedSource 注入源项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48640" y="4279392"/>
            <a:ext cx="384048" cy="384048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40664" y="4663440"/>
            <a:ext cx="25400" cy="594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微软雅黑" panose="020B0503020204020204" charset="-122"/>
              </a:rPr>
              <a:t>步骤 4: 多套网格</a:t>
            </a:r>
            <a:endParaRPr sz="14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0040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 panose="020B0609020204030204"/>
              </a:rPr>
              <a:t>h, h/2, h/4, h/8</a:t>
            </a:r>
            <a:endParaRPr sz="12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最低 3 套，推荐 4-5 套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48640" y="5285232"/>
            <a:ext cx="384048" cy="38404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8872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微软雅黑" panose="020B0503020204020204" charset="-122"/>
              </a:rPr>
              <a:t>步骤 5: 验证判定</a:t>
            </a:r>
            <a:endParaRPr sz="14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0040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 panose="020B0609020204030204"/>
              </a:rPr>
              <a:t>|p_obs - 2.0| &lt;= 0.1 -&gt; PASS</a:t>
            </a:r>
            <a:endParaRPr sz="12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离散实现正确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13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MMS 的收敛阶判定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5C"/>
                </a:solidFill>
                <a:latin typeface="微软雅黑" panose="020B0503020204020204" charset="-122"/>
              </a:rPr>
              <a:t>离散误差：||u_num - u_exact|| = C * h^p + 高阶小量</a:t>
            </a:r>
            <a:endParaRPr sz="1700" b="1">
              <a:solidFill>
                <a:srgbClr val="1B3A5C"/>
              </a:solidFill>
              <a:latin typeface="微软雅黑" panose="020B0503020204020204" charset="-122"/>
            </a:endParaRP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1B3A5C"/>
                </a:solidFill>
                <a:latin typeface="微软雅黑" panose="020B0503020204020204" charset="-122"/>
              </a:rPr>
              <a:t>对数域：log E = log C + p * log h</a:t>
            </a:r>
            <a:endParaRPr sz="17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5303520" cy="118872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  <a:latin typeface="微软雅黑" panose="020B0503020204020204" charset="-122"/>
              </a:rPr>
              <a:t>O 验证通过</a:t>
            </a:r>
            <a:endParaRPr sz="20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p_obs ~ p_theory（如中心差分 -&gt; 2）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0" y="2377440"/>
            <a:ext cx="5303520" cy="1188720"/>
          </a:xfrm>
          <a:prstGeom prst="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74C3C"/>
                </a:solidFill>
                <a:latin typeface="微软雅黑" panose="020B0503020204020204" charset="-122"/>
              </a:rPr>
              <a:t>X 代码存在 Bug</a:t>
            </a:r>
            <a:endParaRPr sz="2000" b="1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7512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p_obs 显著偏离理论阶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515600" cy="2286000"/>
          </a:xfrm>
          <a:prstGeom prst="rect">
            <a:avLst/>
          </a:prstGeom>
          <a:solidFill>
            <a:srgbClr val="FEF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微软雅黑" panose="020B0503020204020204" charset="-122"/>
              </a:rPr>
              <a:t>关于容差 +/- 0.1</a:t>
            </a:r>
            <a:endParaRPr sz="1400" b="1">
              <a:solidFill>
                <a:srgbClr val="F39C12"/>
              </a:solidFill>
              <a:latin typeface="微软雅黑" panose="020B0503020204020204" charset="-122"/>
            </a:endParaRP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均匀网格 + 二阶格式：观察阶应极为接近 2.0（偏差 &lt; 0.01）。若偏差 &gt; 0.1 基本可判定代码有 Bug。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建议容差：均匀网格 +/- 0.05 | 扭曲网格 +/- 0.15 | 非结构网格 +/- 0.2~0.3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14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MMS 能发现什么 Bug？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00400"/>
                <a:gridCol w="3200400"/>
              </a:tblGrid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Bug 类型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传统测试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MMS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边界条件实现错误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可能漏检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必现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源项计算错误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可能漏检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必现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离散格式实现错误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难以发现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观察阶异常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网格拓扑处理错误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偶发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收敛曲线异常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分区边界通量交换错误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单元测试难覆盖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串并行不一致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浮点精度问题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偶发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观察阶偏离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分区边界通量交换错误是并行 CFD 中最隐蔽的 Bug：串行跑对，并行跑错。MMS 的串并行对比是检测此类问题的金标准。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15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工业标准与合规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11480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ASME V&amp;V 20-2009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美国：CFD/传热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代码验证必须执行，MMS 为首选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ASME V&amp;V 10-2019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美国：固体力学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各级别推荐 MMS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ISO 17534-1:2015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国际：声学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需验证精度阶数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FDA Critical Path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美国：医疗器件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仿真必须遵循 V&amp;V 流程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Sandia 国家实验室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美国：核安全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高后果软件必须通过 MMS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5C"/>
                </a:solidFill>
                <a:latin typeface="微软雅黑" panose="020B0503020204020204" charset="-122"/>
              </a:rPr>
              <a:t>对于需要出口到美国市场的 CFD 软件，ASME V&amp;V 20 合规是准入门槛。MMS 验证记录是审核的必备材料。</a:t>
            </a:r>
            <a:endParaRPr sz="13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16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工业应用价值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344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微软雅黑" panose="020B0503020204020204" charset="-122"/>
              </a:rPr>
              <a:t>🔬  研发阶段</a:t>
            </a:r>
            <a:endParaRPr sz="16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在上线前发现离散化错误，避免带着 Bug 开发半年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微软雅黑" panose="020B0503020204020204" charset="-122"/>
              </a:rPr>
              <a:t>🚧  CI 门禁</a:t>
            </a:r>
            <a:endParaRPr sz="16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每次提交自动运行，防止精度退化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1051560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微软雅黑" panose="020B0503020204020204" charset="-122"/>
              </a:rPr>
              <a:t>🔄  回归测试</a:t>
            </a:r>
            <a:endParaRPr sz="16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34747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代码重构后确保精度阶数不变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10515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微软雅黑" panose="020B0503020204020204" charset="-122"/>
              </a:rPr>
              <a:t>📊  技术债评估</a:t>
            </a:r>
            <a:endParaRPr sz="16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4434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未通过 MMS 的模块自动标记为高风险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1520" y="5029200"/>
            <a:ext cx="1051560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0749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5C"/>
                </a:solidFill>
                <a:latin typeface="微软雅黑" panose="020B0503020204020204" charset="-122"/>
              </a:rPr>
              <a:t>📋  合规性</a:t>
            </a:r>
            <a:endParaRPr sz="16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MMS 验证记录是 ASME V&amp;V 认证审核的必备材料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17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案例：稳态扩散 MMS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530352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微软雅黑" panose="020B0503020204020204" charset="-122"/>
              </a:rPr>
              <a:t>问题设定</a:t>
            </a:r>
            <a:endParaRPr sz="14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75488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 panose="020B0609020204030204"/>
              </a:rPr>
              <a:t>方程：-div(DT*grad(T)) = S    DT=1</a:t>
            </a:r>
            <a:endParaRPr sz="1200" b="0">
              <a:solidFill>
                <a:srgbClr val="333333"/>
              </a:solidFill>
              <a:latin typeface="Consolas" panose="020B0609020204030204"/>
            </a:endParaRP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Consolas" panose="020B0609020204030204"/>
              </a:rPr>
              <a:t>域：  [0,1] x [0,1]</a:t>
            </a:r>
            <a:endParaRPr sz="1200" b="0">
              <a:solidFill>
                <a:srgbClr val="333333"/>
              </a:solidFill>
              <a:latin typeface="Consolas" panose="020B0609020204030204"/>
            </a:endParaRP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Consolas" panose="020B0609020204030204"/>
              </a:rPr>
              <a:t>BC：  T=0 on boundary</a:t>
            </a:r>
            <a:endParaRPr sz="1200" b="0">
              <a:solidFill>
                <a:srgbClr val="333333"/>
              </a:solidFill>
              <a:latin typeface="Consolas" panose="020B0609020204030204"/>
            </a:endParaRPr>
          </a:p>
          <a:p>
            <a:pPr algn="l">
              <a:spcBef>
                <a:spcPts val="400"/>
              </a:spcBef>
            </a:pPr>
            <a:r>
              <a:rPr lang="en-US" sz="1200" b="0">
                <a:solidFill>
                  <a:srgbClr val="333333"/>
                </a:solidFill>
                <a:latin typeface="Consolas" panose="020B0609020204030204"/>
              </a:rPr>
              <a:t>(BC: bounDary condition)</a:t>
            </a:r>
            <a:endParaRPr lang="en-US" sz="12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303520" cy="21031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微软雅黑" panose="020B0503020204020204" charset="-122"/>
              </a:rPr>
              <a:t>制造解</a:t>
            </a:r>
            <a:endParaRPr sz="14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微软雅黑" panose="020B0503020204020204" charset="-122"/>
              </a:rPr>
              <a:t>T*(x,y) = sin(pi*x) * sin(pi*y)</a:t>
            </a:r>
            <a:endParaRPr sz="1500" b="1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光滑、边界为零（自动满足 Dirichlet BC）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10972800" cy="1188720"/>
          </a:xfrm>
          <a:prstGeom prst="rect">
            <a:avLst/>
          </a:prstGeom>
          <a:solidFill>
            <a:srgbClr val="D6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微软雅黑" panose="020B0503020204020204" charset="-122"/>
              </a:rPr>
              <a:t>解析源项</a:t>
            </a:r>
            <a:endParaRPr sz="14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A5C"/>
                </a:solidFill>
                <a:latin typeface="微软雅黑" panose="020B0503020204020204" charset="-122"/>
              </a:rPr>
              <a:t>S(x,y) = 2*pi^2 * sin(pi*x) * sin(pi*y)</a:t>
            </a:r>
            <a:endParaRPr sz="17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18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求解器选型决策树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515600" cy="384048"/>
          </a:xfrm>
          <a:prstGeom prst="rect">
            <a:avLst/>
          </a:prstGeom>
          <a:solidFill>
            <a:srgbClr val="E8E8E8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25296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 panose="020B0503020204020204" charset="-122"/>
              </a:rPr>
              <a:t>需求：带源项的稳态扩散</a:t>
            </a:r>
            <a:endParaRPr sz="13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881360" cy="384048"/>
          </a:xfrm>
          <a:prstGeom prst="rect">
            <a:avLst/>
          </a:prstGeom>
          <a:solidFill>
            <a:srgbClr val="F2F2F2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82496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 panose="020B0503020204020204" charset="-122"/>
              </a:rPr>
              <a:t>候选：laplacianFoam</a:t>
            </a:r>
            <a:endParaRPr sz="13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0" y="2103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  检查：是否支持 fvOptions？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4400" y="2423160"/>
            <a:ext cx="10698480" cy="384048"/>
          </a:xfrm>
          <a:prstGeom prst="rect">
            <a:avLst/>
          </a:prstGeom>
          <a:solidFill>
            <a:srgbClr val="FDEDEC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5973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微软雅黑" panose="020B0503020204020204" charset="-122"/>
              </a:rPr>
              <a:t>X 不支持（被拒绝）</a:t>
            </a:r>
            <a:endParaRPr sz="1300" b="1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1520" y="2880360"/>
            <a:ext cx="10881360" cy="384048"/>
          </a:xfrm>
          <a:prstGeom prst="rect">
            <a:avLst/>
          </a:prstGeom>
          <a:solidFill>
            <a:srgbClr val="F2F2F2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16936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 panose="020B0503020204020204" charset="-122"/>
              </a:rPr>
              <a:t>候选：scalarTransportFoam</a:t>
            </a:r>
            <a:endParaRPr sz="13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86000" y="3337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  策略：设 U=(0,0,0)，对流项归零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3657600"/>
            <a:ext cx="10698480" cy="384048"/>
          </a:xfrm>
          <a:prstGeom prst="rect">
            <a:avLst/>
          </a:prstGeom>
          <a:solidFill>
            <a:srgbClr val="D5F5E3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69417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微软雅黑" panose="020B0503020204020204" charset="-122"/>
              </a:rPr>
              <a:t>O 支持 fvOptions -&gt; scalarCodedSource</a:t>
            </a:r>
            <a:endParaRPr sz="13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核心原则：PDE 不变，求解器可换。laplacianFoam 不支持 fvOptions -&gt; 换 scalarTransportFoam 即可。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19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四个坑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4C3C"/>
                </a:solidFill>
                <a:latin typeface="微软雅黑" panose="020B0503020204020204" charset="-122"/>
              </a:rPr>
              <a:t>符号约定</a:t>
            </a:r>
            <a:endParaRPr sz="1600" b="1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 panose="020B0609020204030204"/>
              </a:rPr>
              <a:t>数学：-laplacian(T) = S
代码：-fvm::laplacian(T) == fvOptions(T)
内部展开后源项需 -= S</a:t>
            </a:r>
            <a:endParaRPr sz="11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03520" cy="2286000"/>
          </a:xfrm>
          <a:prstGeom prst="rect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98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4C3C"/>
                </a:solidFill>
                <a:latin typeface="微软雅黑" panose="020B0503020204020204" charset="-122"/>
              </a:rPr>
              <a:t>权限限制</a:t>
            </a:r>
            <a:endParaRPr sz="1600" b="1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 panose="020B0609020204030204"/>
              </a:rPr>
              <a:t>root 用户被禁止动态编译
需使用非 root 用户运行
或设置 OPENFOAM_CODE_ALLOW_ROOT=1</a:t>
            </a:r>
            <a:endParaRPr sz="11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3749040"/>
            <a:ext cx="5303520" cy="2286000"/>
          </a:xfrm>
          <a:prstGeom prst="rect">
            <a:avLst/>
          </a:prstGeom>
          <a:solidFill>
            <a:srgbClr val="FEF3CB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587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9C12"/>
                </a:solidFill>
                <a:latin typeface="微软雅黑" panose="020B0503020204020204" charset="-122"/>
              </a:rPr>
              <a:t>版本兼容</a:t>
            </a:r>
            <a:endParaRPr sz="16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 panose="020B0609020204030204"/>
              </a:rPr>
              <a:t>v8 及以前：codedSource
v2212：codedSource
v2512：scalarCodedSource
v2306+：新增 fvModels 体系</a:t>
            </a:r>
            <a:endParaRPr sz="11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0" y="3749040"/>
            <a:ext cx="5303520" cy="2286000"/>
          </a:xfrm>
          <a:prstGeom prst="rect">
            <a:avLst/>
          </a:prstGeom>
          <a:solidFill>
            <a:srgbClr val="FEF3CB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8587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9C12"/>
                </a:solidFill>
                <a:latin typeface="微软雅黑" panose="020B0503020204020204" charset="-122"/>
              </a:rPr>
              <a:t>矩阵对称性</a:t>
            </a:r>
            <a:endParaRPr sz="16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 panose="020B0609020204030204"/>
              </a:rPr>
              <a:t>div(phi,T) upwind -&gt; 矩阵非对称
即使 phi=0 也被分类为非对称
需用 PBiCG + DILU，非 PCG + DIC</a:t>
            </a:r>
            <a:endParaRPr sz="1100" b="0">
              <a:solidFill>
                <a:srgbClr val="333333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20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实测结果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10515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371600"/>
                <a:gridCol w="1828800"/>
                <a:gridCol w="1645920"/>
                <a:gridCol w="2377440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网格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单元数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h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L2 误差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加密比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p_obs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粗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20x20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0.05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1.03e-03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-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-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中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40x40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0.025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2.57e-04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4.0x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2.001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细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80x80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0.0125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6.43e-05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4.0x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2.000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0" y="3657600"/>
            <a:ext cx="4846320" cy="137160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38404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7AE60"/>
                </a:solidFill>
                <a:latin typeface="微软雅黑" panose="020B0503020204020204" charset="-122"/>
              </a:rPr>
              <a:t>O  p_obs = 2.001</a:t>
            </a:r>
            <a:endParaRPr sz="26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31920" y="43891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微软雅黑" panose="020B0503020204020204" charset="-122"/>
              </a:rPr>
              <a:t>二阶收敛验证通过</a:t>
            </a:r>
            <a:endParaRPr sz="14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误差每加密一倍缩小约 4 倍 (4 = 2^2)，与二阶格式的理论特性完全吻合。实测偏差仅 0.001。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21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扩展计划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2743200"/>
                <a:gridCol w="1097280"/>
                <a:gridCol w="1097280"/>
                <a:gridCol w="100584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scalarTransportFoam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稳态扩散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sin(pi*x)*sin(pi*y)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简单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已完成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simpleFoam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稳态 NS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多项式速度场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中等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待办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rhoCentralFoam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可压缩流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正弦波（亚声速）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困难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待办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solidDisplacementFoam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线弹性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多项式位移场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中等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待办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  <a:latin typeface="微软雅黑" panose="020B0503020204020204" charset="-122"/>
              </a:rPr>
              <a:t>扩展注意事项：</a:t>
            </a:r>
            <a:endParaRPr sz="1400" b="1">
              <a:solidFill>
                <a:srgbClr val="1B3A5C"/>
              </a:solidFill>
              <a:latin typeface="微软雅黑" panose="020B0503020204020204" charset="-122"/>
            </a:endParaRP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* simpleFoam：需设置 pRefCell，否则压力矩阵奇异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* rhoCentralFoam：从亚声速光滑解开始，避免激波污染收敛阶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* 多相流求解器：确保制造解满足 0 &lt;= alpha &lt;= 1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22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一键运行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61872"/>
            <a:ext cx="10241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 panose="020B0609020204030204"/>
              </a:rPr>
              <a:t>$ cd docs/zh/mms
$ python3 openfoam_laplacian_mms.py</a:t>
            </a:r>
            <a:endParaRPr sz="1000" b="0">
              <a:solidFill>
                <a:srgbClr val="333333"/>
              </a:solidFill>
              <a:latin typeface="Consolas" panose="020B0609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10515600" cy="2103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1024128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onsolas" panose="020B0609020204030204"/>
              </a:rPr>
              <a:t>[</a:t>
            </a:r>
            <a:r>
              <a:rPr sz="1000" b="0">
                <a:solidFill>
                  <a:schemeClr val="bg1"/>
                </a:solidFill>
                <a:latin typeface="Consolas" panose="020B0609020204030204"/>
              </a:rPr>
              <a:t>coarse] L2 error = 1.03e-03
[medium] L2 error = 2.57e-04
[fine]   L2 error = 6.43e-05
coarse -&gt; medium: p_obs = 2.001  [PASS]
medium -&gt; fine:   p_obs = 2.000  [PASS]
Overall: [PASS]</a:t>
            </a:r>
            <a:endParaRPr sz="1000" b="0">
              <a:solidFill>
                <a:schemeClr val="bg1"/>
              </a:solidFill>
              <a:latin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所有配置自动生成，不需手动编辑 OpenFOAM case 文件。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基于 OpenFOAM 2512 开发。v2306 以下版本将 scalarCodedSource 改为 codedSource。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23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排查失败五步法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4380" y="1645920"/>
            <a:ext cx="25400" cy="594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4C3C"/>
                </a:solidFill>
                <a:latin typeface="微软雅黑" panose="020B0503020204020204" charset="-122"/>
              </a:rPr>
              <a:t>符号错误</a:t>
            </a:r>
            <a:endParaRPr sz="1600" b="1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0" y="1188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检查 eqn.source() 正负号
约 60% 的 MMS 失败源于此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48640" y="2240280"/>
            <a:ext cx="411480" cy="4114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4380" y="2651760"/>
            <a:ext cx="25400" cy="594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9C12"/>
                </a:solidFill>
                <a:latin typeface="微软雅黑" panose="020B0503020204020204" charset="-122"/>
              </a:rPr>
              <a:t>边界条件不匹配</a:t>
            </a:r>
            <a:endParaRPr sz="16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800" y="21945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制造解是否精确满足 BC 类型？
Dirichlet/Neumann/mixed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48640" y="3246120"/>
            <a:ext cx="411480" cy="4114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54380" y="3657600"/>
            <a:ext cx="25400" cy="594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9C12"/>
                </a:solidFill>
                <a:latin typeface="微软雅黑" panose="020B0503020204020204" charset="-122"/>
              </a:rPr>
              <a:t>离散格式不匹配</a:t>
            </a:r>
            <a:endParaRPr sz="16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14800" y="3200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fvSchemes 中是否混用了不兼容的格式？
如 upwind + 中心差分混合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48640" y="425196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54380" y="4663440"/>
            <a:ext cx="25400" cy="5943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微软雅黑" panose="020B0503020204020204" charset="-122"/>
              </a:rPr>
              <a:t>求解器容差不足</a:t>
            </a:r>
            <a:endParaRPr sz="1600" b="1">
              <a:solidFill>
                <a:srgbClr val="2E86C1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0" y="4206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容差是否远小于离散误差？
建议 tolerance &lt;= 1e-8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48640" y="525780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8016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微软雅黑" panose="020B0503020204020204" charset="-122"/>
              </a:rPr>
              <a:t>浮点异常</a:t>
            </a:r>
            <a:endParaRPr sz="1600" b="1">
              <a:solidFill>
                <a:srgbClr val="2E86C1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4800" y="5212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除零？大数相消？NaN？
检查 OpenFOAM trapFpe 输出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24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CI/CD 集成策略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4747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微软雅黑" panose="020B0503020204020204" charset="-122"/>
              </a:rPr>
              <a:t>commit </a:t>
            </a:r>
            <a:endParaRPr sz="14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-&gt;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微软雅黑" panose="020B0503020204020204" charset="-122"/>
              </a:rPr>
              <a:t>fast-check</a:t>
            </a:r>
            <a:endParaRPr sz="14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 panose="020B0503020204020204" charset="-122"/>
              </a:rPr>
              <a:t>20x20 网格，~10s
只检查运行不崩溃
通过 -&gt; PR merge</a:t>
            </a:r>
            <a:endParaRPr sz="11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23360" y="2743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 panose="020B0503020204020204" charset="-122"/>
              </a:rPr>
              <a:t>-&gt;</a:t>
            </a:r>
            <a:endParaRPr sz="14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89120" y="1188720"/>
            <a:ext cx="34747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微软雅黑" panose="020B0503020204020204" charset="-122"/>
              </a:rPr>
              <a:t>nightly </a:t>
            </a:r>
            <a:endParaRPr sz="14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40" y="1828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-&gt;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微软雅黑" panose="020B0503020204020204" charset="-122"/>
              </a:rPr>
              <a:t>standard MMS</a:t>
            </a:r>
            <a:endParaRPr sz="14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 panose="020B0503020204020204" charset="-122"/>
              </a:rPr>
              <a:t>3 套网格，1-2min
验证 p_obs
失败 -&gt; 告警 + 阻断</a:t>
            </a:r>
            <a:endParaRPr sz="11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63840" y="2743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 panose="020B0503020204020204" charset="-122"/>
              </a:rPr>
              <a:t>-&gt;</a:t>
            </a:r>
            <a:endParaRPr sz="14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4747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微软雅黑" panose="020B0503020204020204" charset="-122"/>
              </a:rPr>
              <a:t>weekly </a:t>
            </a:r>
            <a:endParaRPr sz="1400" b="1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03920" y="1828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-&gt;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2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微软雅黑" panose="020B0503020204020204" charset="-122"/>
              </a:rPr>
              <a:t>full regression</a:t>
            </a:r>
            <a:endParaRPr sz="1400" b="1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0" y="2468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 panose="020B0503020204020204" charset="-122"/>
              </a:rPr>
              <a:t>4-5 套网格 + 多求解器，10-15min
跨求解器一致性
失败 -&gt; 回滚</a:t>
            </a:r>
            <a:endParaRPr sz="11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5C"/>
                </a:solidFill>
                <a:latin typeface="微软雅黑" panose="020B0503020204020204" charset="-122"/>
              </a:rPr>
              <a:t>关键原则：不让 MMS 成为开发的绊脚石。fast-check 秒级完成；全量回归放在 nightly/weekly。</a:t>
            </a:r>
            <a:endParaRPr sz="1300" b="1">
              <a:solidFill>
                <a:srgbClr val="1B3A5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25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完整的验证体系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114800"/>
              </a:tblGrid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方法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验证内容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与 MMS 的关系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单元测试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单个函数/模块的正确性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互补：覆盖 MMS 无法覆盖的分支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MMS 验证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PDE 离散化的整体正确性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核心：验证数值算法的数学实现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基准测试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标准算例对比参考解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互补：验证物理模型效果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回归测试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防止代码修改引入退化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</a:rPr>
                        <a:t>互补：持续监控精度变化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0" y="4846320"/>
            <a:ext cx="3931920" cy="73152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4937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 panose="020B0503020204020204" charset="-122"/>
              </a:rPr>
              <a:t>MMS 验证通过是必要条件，不是充分条件</a:t>
            </a:r>
            <a:endParaRPr sz="13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26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实施路线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128016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241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Phase 0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11680" y="10058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 panose="020B0503020204020204" charset="-122"/>
              </a:rPr>
              <a:t>团队培训 + 试运行</a:t>
            </a:r>
            <a:endParaRPr sz="1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1005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先在简单求解器上跑通 MMS 全流程
建立逆向构造思维模型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0" y="10058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E74C3C"/>
                </a:solidFill>
                <a:latin typeface="微软雅黑" panose="020B0503020204020204" charset="-122"/>
              </a:rPr>
              <a:t>⭐ P0</a:t>
            </a:r>
            <a:endParaRPr sz="1100" b="0">
              <a:solidFill>
                <a:srgbClr val="E74C3C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128016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385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Phase 1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 panose="020B0503020204020204" charset="-122"/>
              </a:rPr>
              <a:t>稳态扩散 MMS</a:t>
            </a:r>
            <a:endParaRPr sz="1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验证脚本 + 文档
scalarTransportFoam 实现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0" y="19202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7AE60"/>
                </a:solidFill>
                <a:latin typeface="微软雅黑" panose="020B0503020204020204" charset="-122"/>
              </a:rPr>
              <a:t>✅</a:t>
            </a:r>
            <a:endParaRPr sz="1100" b="0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2834640"/>
            <a:ext cx="128016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529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Phase 2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11680" y="28346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 panose="020B0503020204020204" charset="-122"/>
              </a:rPr>
              <a:t>环境搭建</a:t>
            </a:r>
            <a:endParaRPr sz="1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0" y="2834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WSL/Linux OpenFOAM 安装
MMS 全流程跑通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58400" y="2834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7AE60"/>
                </a:solidFill>
                <a:latin typeface="微软雅黑" panose="020B0503020204020204" charset="-122"/>
              </a:rPr>
              <a:t>✅</a:t>
            </a:r>
            <a:endParaRPr sz="1100" b="0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749040"/>
            <a:ext cx="128016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673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Phase 3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11680" y="37490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 panose="020B0503020204020204" charset="-122"/>
              </a:rPr>
              <a:t>扩展到 NS 求解器</a:t>
            </a:r>
            <a:endParaRPr sz="1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0" y="3749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simpleFoam 稳态 NS MMS
rhoCentralFoam 可压缩 MMS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58400" y="37490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E86C1"/>
                </a:solidFill>
                <a:latin typeface="微软雅黑" panose="020B0503020204020204" charset="-122"/>
              </a:rPr>
              <a:t>📅</a:t>
            </a:r>
            <a:endParaRPr sz="1100" b="0">
              <a:solidFill>
                <a:srgbClr val="2E86C1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4663440"/>
            <a:ext cx="1280160" cy="3474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817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Phase 4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11680" y="46634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 panose="020B0503020204020204" charset="-122"/>
              </a:rPr>
              <a:t>CI 集成</a:t>
            </a:r>
            <a:endParaRPr sz="1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72000" y="4663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每次提交自动 MMS 回归
分层策略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8400" y="46634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E86C1"/>
                </a:solidFill>
                <a:latin typeface="微软雅黑" panose="020B0503020204020204" charset="-122"/>
              </a:rPr>
              <a:t>📅</a:t>
            </a:r>
            <a:endParaRPr sz="1100" b="0">
              <a:solidFill>
                <a:srgbClr val="2E86C1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5577840"/>
            <a:ext cx="1280160" cy="34747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59612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Phase 5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011680" y="55778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 panose="020B0503020204020204" charset="-122"/>
              </a:rPr>
              <a:t>全自动回归</a:t>
            </a:r>
            <a:endParaRPr sz="14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0" y="5577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CI/CD 流水线闭环
自动生成报告 + 趋势图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58400" y="55778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📅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27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MMS 在软件生命周期中的定位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64592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需求规格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51760" y="1737360"/>
            <a:ext cx="164592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架构设计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0" y="1737360"/>
            <a:ext cx="164592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代码实现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92240" y="1371600"/>
            <a:ext cx="164592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45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3333"/>
                </a:solidFill>
                <a:latin typeface="微软雅黑" panose="020B0503020204020204" charset="-122"/>
              </a:rPr>
              <a:t>单元测试</a:t>
            </a:r>
            <a:endParaRPr sz="12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412480" y="1737360"/>
            <a:ext cx="164592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集成测试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332720" y="1737360"/>
            <a:ext cx="164592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微软雅黑" panose="020B0503020204020204" charset="-122"/>
              </a:rPr>
              <a:t>交付</a:t>
            </a:r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1520" y="2560320"/>
            <a:ext cx="10972800" cy="381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0" y="2834640"/>
            <a:ext cx="4114800" cy="164592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0175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AE60"/>
                </a:solidFill>
                <a:latin typeface="微软雅黑" panose="020B0503020204020204" charset="-122"/>
              </a:rPr>
              <a:t>▲  MMS 验证</a:t>
            </a:r>
            <a:endParaRPr sz="20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0" y="35661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PDE 求解器的“单元测试”
验证（Verification）阶段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MMS 属于验证（Verification），而非确认（Validation）。它位于单元测试和集成测试之间。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28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微软雅黑" panose="020B0503020204020204" charset="-122"/>
              </a:rPr>
              <a:t>总结：三条核心信息</a:t>
            </a:r>
            <a:endParaRPr sz="28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7AE60"/>
                </a:solidFill>
                <a:latin typeface="微软雅黑" panose="020B0503020204020204" charset="-122"/>
              </a:rPr>
              <a:t>1</a:t>
            </a:r>
            <a:endParaRPr sz="2400" b="0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20240" y="128016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  <a:latin typeface="微软雅黑" panose="020B0503020204020204" charset="-122"/>
              </a:rPr>
              <a:t>MMS 是 PDE 求解器的单元测试</a:t>
            </a:r>
            <a:endParaRPr sz="20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0240" y="173736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将验证问题转化为自洽的数学闭环
可以验证任意复杂度的 PDE 求解器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solidFill>
            <a:srgbClr val="D6EBF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E86C1"/>
                </a:solidFill>
                <a:latin typeface="微软雅黑" panose="020B0503020204020204" charset="-122"/>
              </a:rPr>
              <a:t>2</a:t>
            </a:r>
            <a:endParaRPr sz="2400" b="0">
              <a:solidFill>
                <a:srgbClr val="2E86C1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20240" y="292608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  <a:latin typeface="微软雅黑" panose="020B0503020204020204" charset="-122"/>
              </a:rPr>
              <a:t>p_obs = p_theory 意味着离散实现正确</a:t>
            </a:r>
            <a:endParaRPr sz="2000" b="1">
              <a:solidFill>
                <a:srgbClr val="2E86C1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20240" y="338328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这是数学上的充分必要条件
观察阶异常 = 代码存在 Bug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10515600" cy="1371600"/>
          </a:xfrm>
          <a:prstGeom prst="rect">
            <a:avLst/>
          </a:prstGeom>
          <a:solidFill>
            <a:srgbClr val="FEF3CB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72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39C12"/>
                </a:solidFill>
                <a:latin typeface="微软雅黑" panose="020B0503020204020204" charset="-122"/>
              </a:rPr>
              <a:t>3</a:t>
            </a:r>
            <a:endParaRPr sz="2400" b="0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240" y="457200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39C12"/>
                </a:solidFill>
                <a:latin typeface="微软雅黑" panose="020B0503020204020204" charset="-122"/>
              </a:rPr>
              <a:t>必要条件，非充分条件</a:t>
            </a:r>
            <a:endParaRPr sz="2000" b="1">
              <a:solidFill>
                <a:srgbClr val="F39C12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502920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</a:rPr>
              <a:t>须与单元测试、基准测试、回归测试组合使用
完整的验证体系才是真正的质量保障</a:t>
            </a:r>
            <a:endParaRPr sz="13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 panose="020B0503020204020204" charset="-122"/>
              </a:rPr>
              <a:t>29</a:t>
            </a:r>
            <a:endParaRPr sz="10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推荐阅读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DFF"/>
                </a:solidFill>
                <a:latin typeface="微软雅黑" panose="020B0503020204020204" charset="-122"/>
              </a:rPr>
              <a:t>📖  ASME V&amp;V 20-2009, Standard for Verification and Validation in CFD and Heat Transfer</a:t>
            </a:r>
            <a:endParaRPr sz="1200" b="0">
              <a:solidFill>
                <a:srgbClr val="BBDD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DFF"/>
                </a:solidFill>
                <a:latin typeface="微软雅黑" panose="020B0503020204020204" charset="-122"/>
              </a:rPr>
              <a:t>📖  ASME V&amp;V 10-2019, Standard for Verification and Validation in Computational Solid Mechanics</a:t>
            </a:r>
            <a:endParaRPr sz="1200" b="0">
              <a:solidFill>
                <a:srgbClr val="BBDD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DFF"/>
                </a:solidFill>
                <a:latin typeface="微软雅黑" panose="020B0503020204020204" charset="-122"/>
              </a:rPr>
              <a:t>📖  Roache, P. J., Verification and Validation in Computational Science and Engineering, 1998</a:t>
            </a:r>
            <a:endParaRPr sz="1200" b="0">
              <a:solidFill>
                <a:srgbClr val="BBDD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56615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DFF"/>
                </a:solidFill>
                <a:latin typeface="微软雅黑" panose="020B0503020204020204" charset="-122"/>
              </a:rPr>
              <a:t>📖  Salari, K. and Knupp, P., Code Verification by the Method of Manufactured Solutions, SAND2000-1444</a:t>
            </a:r>
            <a:endParaRPr sz="1200" b="0">
              <a:solidFill>
                <a:srgbClr val="BBDD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DFF"/>
                </a:solidFill>
                <a:latin typeface="微软雅黑" panose="020B0503020204020204" charset="-122"/>
              </a:rPr>
              <a:t>📖  OpenFOAM v2512 User Guide, fvOptions &amp; fvModels</a:t>
            </a:r>
            <a:endParaRPr sz="1200" b="0">
              <a:solidFill>
                <a:srgbClr val="BBDD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Thank You  |  Questions &amp; Discussion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6684</Words>
  <Application>WPS 演示</Application>
  <PresentationFormat>On-screen Show (4:3)</PresentationFormat>
  <Paragraphs>842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Guo</cp:lastModifiedBy>
  <cp:revision>5</cp:revision>
  <dcterms:created xsi:type="dcterms:W3CDTF">2013-01-27T09:14:00Z</dcterms:created>
  <dcterms:modified xsi:type="dcterms:W3CDTF">2026-07-07T02:09:50Z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2052-10.8.2.6666</vt:lpwstr>
  </property>
</Properties>
</file>